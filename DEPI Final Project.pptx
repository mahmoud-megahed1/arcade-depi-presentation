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3" r:id="rId5"/>
    <p:sldId id="260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72" r:id="rId14"/>
    <p:sldId id="267" r:id="rId15"/>
    <p:sldId id="268" r:id="rId16"/>
    <p:sldId id="269" r:id="rId17"/>
    <p:sldId id="275" r:id="rId18"/>
    <p:sldId id="270" r:id="rId19"/>
    <p:sldId id="271" r:id="rId20"/>
  </p:sldIdLst>
  <p:sldSz cx="18288000" cy="10287000"/>
  <p:notesSz cx="6858000" cy="9144000"/>
  <p:embeddedFontLst>
    <p:embeddedFont>
      <p:font typeface="Arial Bold" panose="020B0704020202020204" pitchFamily="34" charset="0"/>
      <p:regular r:id="rId22"/>
      <p:bold r:id="rId23"/>
    </p:embeddedFont>
    <p:embeddedFont>
      <p:font typeface="Barlow Bold" panose="020B0604020202020204" charset="0"/>
      <p:regular r:id="rId24"/>
    </p:embeddedFont>
    <p:embeddedFont>
      <p:font typeface="Calibri (MS)" panose="020B0604020202020204" charset="0"/>
      <p:regular r:id="rId25"/>
    </p:embeddedFont>
    <p:embeddedFont>
      <p:font typeface="Calibri (MS) Bold" panose="020B0604020202020204" charset="0"/>
      <p:regular r:id="rId26"/>
    </p:embeddedFont>
    <p:embeddedFont>
      <p:font typeface="Canva Sans Bold" panose="020B0604020202020204" charset="0"/>
      <p:regular r:id="rId27"/>
    </p:embeddedFont>
    <p:embeddedFont>
      <p:font typeface="DM Sans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22" autoAdjust="0"/>
  </p:normalViewPr>
  <p:slideViewPr>
    <p:cSldViewPr>
      <p:cViewPr varScale="1">
        <p:scale>
          <a:sx n="55" d="100"/>
          <a:sy n="55" d="100"/>
        </p:scale>
        <p:origin x="667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9816C-BFD3-3111-257C-82EC45D3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E0E96-81D7-81D9-A22A-632FADEDB3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D84C76-76BC-5C30-9D1C-AE6E26FB379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9ED738E-2441-57E8-1CF2-EBD172378A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66ECC97-6DA1-9201-6F43-7D0E54B3C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E19A9-9022-3ED1-235F-FB443FBBB0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00DBD-15B5-077A-AFFD-9BA961769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51214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969E0-6832-1E97-9417-4368C6EA5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C8D9DB-B36B-2660-954A-92C7438CA4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8F236-A9FA-E500-5ADE-17C482FCA00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392009F-9C0F-DDCF-F382-9E256CD65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28E4D0D-1153-31E5-7B4D-4F70BD2D5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950C5-1530-DF96-ED9B-D3462A2B4D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A2A51-8C47-0C7A-1761-80E32CED0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35278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39051-AEFF-6AB7-5F55-46AAD06A1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92F9AF-233C-8FD0-1D5D-B9B167CFA8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2DB76B-7C10-6747-1817-5E689A616B1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DAD0C6A-E075-B283-4154-F83EC4E78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1B88696-F073-056B-7BE4-BDEC88323F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0FDBD-E832-CB89-94AF-77A7A13612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03602-60AF-E299-034A-87F1F4CB9A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131604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1E124-C4E4-C22A-B3B0-9BBB54ECB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E8B33-527D-013E-FEBD-CF0C1402FA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698E8E-9E2A-E239-18FB-ED4B2A06166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A1FACC3-A9F8-ECF9-BCFC-6546E20C0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08949B5-6506-025C-573E-9238B128A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131F6-173C-309E-8A37-D3D2A8E75E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77227-692A-75F0-6CD8-BD05ACB75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171294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810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15900" y="9505950"/>
            <a:ext cx="4114800" cy="576263"/>
            <a:chOff x="0" y="0"/>
            <a:chExt cx="5486400" cy="7683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22312" y="4024008"/>
            <a:ext cx="8565089" cy="1797000"/>
            <a:chOff x="0" y="-104775"/>
            <a:chExt cx="11420118" cy="2396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20118" cy="2291225"/>
            </a:xfrm>
            <a:custGeom>
              <a:avLst/>
              <a:gdLst/>
              <a:ahLst/>
              <a:cxnLst/>
              <a:rect l="l" t="t" r="r" b="b"/>
              <a:pathLst>
                <a:path w="11420118" h="2291225">
                  <a:moveTo>
                    <a:pt x="0" y="0"/>
                  </a:moveTo>
                  <a:lnTo>
                    <a:pt x="11420118" y="0"/>
                  </a:lnTo>
                  <a:lnTo>
                    <a:pt x="11420118" y="2291225"/>
                  </a:lnTo>
                  <a:lnTo>
                    <a:pt x="0" y="22912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104775"/>
              <a:ext cx="11420117" cy="23960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3381"/>
                </a:lnSpc>
              </a:pPr>
              <a:r>
                <a:rPr lang="en-US" sz="12389" b="1" dirty="0">
                  <a:solidFill>
                    <a:srgbClr val="04795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Eventify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775856" y="5789835"/>
            <a:ext cx="6736287" cy="171841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4881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Booking Venues And Organizing Events Platform</a:t>
            </a:r>
            <a:b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</a:br>
            <a:endParaRPr lang="en-US" sz="3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5CA94F7-8E08-73DE-49EE-71980C6654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9412" y="8834438"/>
            <a:ext cx="1247775" cy="1247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15900" y="9505950"/>
            <a:ext cx="4114800" cy="576263"/>
            <a:chOff x="0" y="0"/>
            <a:chExt cx="5486400" cy="7683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569910" y="605032"/>
            <a:ext cx="11148181" cy="784167"/>
            <a:chOff x="0" y="0"/>
            <a:chExt cx="14864241" cy="10455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864242" cy="1045556"/>
            </a:xfrm>
            <a:custGeom>
              <a:avLst/>
              <a:gdLst/>
              <a:ahLst/>
              <a:cxnLst/>
              <a:rect l="l" t="t" r="r" b="b"/>
              <a:pathLst>
                <a:path w="14864242" h="1045556">
                  <a:moveTo>
                    <a:pt x="0" y="0"/>
                  </a:moveTo>
                  <a:lnTo>
                    <a:pt x="14864242" y="0"/>
                  </a:lnTo>
                  <a:lnTo>
                    <a:pt x="14864242" y="1045556"/>
                  </a:lnTo>
                  <a:lnTo>
                    <a:pt x="0" y="10455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4864241" cy="113128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6448"/>
                </a:lnSpc>
              </a:pPr>
              <a:r>
                <a:rPr lang="en-US" sz="4605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Team Members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941421" y="2971737"/>
            <a:ext cx="14405158" cy="4257802"/>
            <a:chOff x="0" y="0"/>
            <a:chExt cx="19206877" cy="567706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206877" cy="5677069"/>
            </a:xfrm>
            <a:custGeom>
              <a:avLst/>
              <a:gdLst/>
              <a:ahLst/>
              <a:cxnLst/>
              <a:rect l="l" t="t" r="r" b="b"/>
              <a:pathLst>
                <a:path w="19206877" h="5677069">
                  <a:moveTo>
                    <a:pt x="0" y="0"/>
                  </a:moveTo>
                  <a:lnTo>
                    <a:pt x="19206877" y="0"/>
                  </a:lnTo>
                  <a:lnTo>
                    <a:pt x="19206877" y="5677069"/>
                  </a:lnTo>
                  <a:lnTo>
                    <a:pt x="0" y="56770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19206877" cy="576279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046341" lvl="2" indent="-348780" algn="l">
                <a:lnSpc>
                  <a:spcPts val="5491"/>
                </a:lnSpc>
                <a:buFont typeface="Arial"/>
                <a:buChar char="⚬"/>
              </a:pPr>
              <a:r>
                <a:rPr lang="en-US" sz="4577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Zyad Gamal Hassan Bash (Team Leader)</a:t>
              </a:r>
            </a:p>
            <a:p>
              <a:pPr marL="1046341" lvl="2" indent="-348780">
                <a:lnSpc>
                  <a:spcPts val="5491"/>
                </a:lnSpc>
                <a:buFont typeface="Arial"/>
                <a:buChar char="⚬"/>
              </a:pPr>
              <a:r>
                <a:rPr lang="en-US" sz="4577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Fares Hassan Ali </a:t>
              </a:r>
              <a:r>
                <a:rPr lang="en-US" sz="4577" b="1" dirty="0" err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Eldagen</a:t>
              </a:r>
              <a:endParaRPr lang="en-US" sz="4577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marL="1046341" lvl="2" indent="-348780" algn="l">
                <a:lnSpc>
                  <a:spcPts val="5491"/>
                </a:lnSpc>
                <a:buFont typeface="Arial"/>
                <a:buChar char="⚬"/>
              </a:pPr>
              <a:r>
                <a:rPr lang="en-US" sz="4577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Ahmed Elsayed Mohamed </a:t>
              </a:r>
              <a:r>
                <a:rPr lang="en-US" sz="4577" b="1" dirty="0" err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Elbatrawy</a:t>
              </a:r>
              <a:endParaRPr lang="en-US" sz="4577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marL="1046341" lvl="2" indent="-348780" algn="l">
                <a:lnSpc>
                  <a:spcPts val="5491"/>
                </a:lnSpc>
                <a:buFont typeface="Arial"/>
                <a:buChar char="⚬"/>
              </a:pPr>
              <a:r>
                <a:rPr lang="en-US" sz="4577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Amr </a:t>
              </a:r>
              <a:r>
                <a:rPr lang="en-US" sz="4577" b="1" dirty="0" err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Elsaed</a:t>
              </a:r>
              <a:r>
                <a:rPr lang="en-US" sz="4577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Mohamed Musbah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529FB6D5-33D8-F057-5F76-E7B38DB7BA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9412" y="8771788"/>
            <a:ext cx="1247775" cy="12477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430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543026" y="9530757"/>
            <a:ext cx="699135" cy="647891"/>
            <a:chOff x="0" y="0"/>
            <a:chExt cx="932180" cy="8638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15900" y="9505950"/>
            <a:ext cx="4114800" cy="576263"/>
            <a:chOff x="0" y="0"/>
            <a:chExt cx="5486400" cy="7683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95406" y="1790622"/>
            <a:ext cx="15497188" cy="7162878"/>
            <a:chOff x="0" y="0"/>
            <a:chExt cx="20662917" cy="955050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662917" cy="8877508"/>
            </a:xfrm>
            <a:custGeom>
              <a:avLst/>
              <a:gdLst/>
              <a:ahLst/>
              <a:cxnLst/>
              <a:rect l="l" t="t" r="r" b="b"/>
              <a:pathLst>
                <a:path w="20662917" h="8877508">
                  <a:moveTo>
                    <a:pt x="0" y="0"/>
                  </a:moveTo>
                  <a:lnTo>
                    <a:pt x="20662917" y="0"/>
                  </a:lnTo>
                  <a:lnTo>
                    <a:pt x="20662917" y="8877508"/>
                  </a:lnTo>
                  <a:lnTo>
                    <a:pt x="0" y="8877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625371"/>
              <a:ext cx="20662917" cy="89251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846811" lvl="2" indent="-282270">
                <a:lnSpc>
                  <a:spcPts val="4149"/>
                </a:lnSpc>
                <a:buFont typeface="Arial"/>
                <a:buChar char="⚬"/>
              </a:pPr>
              <a:r>
                <a:rPr lang="en-US" sz="3700" dirty="0"/>
                <a:t>Organizing events such as seminars, conferences, concerts, and workshops often faces significant challenges.</a:t>
              </a:r>
              <a:endParaRPr lang="ar-EG" sz="3700" dirty="0"/>
            </a:p>
            <a:p>
              <a:pPr marL="846811" lvl="2" indent="-282270">
                <a:lnSpc>
                  <a:spcPts val="4149"/>
                </a:lnSpc>
                <a:buFont typeface="Arial"/>
                <a:buChar char="⚬"/>
              </a:pPr>
              <a:endParaRPr lang="ar-EG" sz="3700" dirty="0"/>
            </a:p>
            <a:p>
              <a:pPr marL="846811" lvl="2" indent="-282270">
                <a:lnSpc>
                  <a:spcPts val="4149"/>
                </a:lnSpc>
                <a:buFont typeface="Arial"/>
                <a:buChar char="⚬"/>
              </a:pPr>
              <a:r>
                <a:rPr lang="en-US" sz="3700" dirty="0"/>
                <a:t> Venue owners struggle to effectively showcase and manage the availability of their spaces, while event organizers waste time searching for suitable locations that meet their needs. </a:t>
              </a:r>
              <a:endParaRPr lang="ar-EG" sz="3700" dirty="0"/>
            </a:p>
            <a:p>
              <a:pPr marL="564541" lvl="2">
                <a:lnSpc>
                  <a:spcPts val="4149"/>
                </a:lnSpc>
              </a:pPr>
              <a:r>
                <a:rPr lang="en-US" sz="3700" dirty="0"/>
                <a:t> </a:t>
              </a:r>
              <a:endParaRPr lang="ar-EG" sz="3700" dirty="0"/>
            </a:p>
            <a:p>
              <a:pPr marL="846811" lvl="2" indent="-282270">
                <a:lnSpc>
                  <a:spcPts val="4149"/>
                </a:lnSpc>
                <a:buFont typeface="Arial"/>
                <a:buChar char="⚬"/>
              </a:pPr>
              <a:r>
                <a:rPr lang="en-US" sz="3700" dirty="0"/>
                <a:t>This fragmentation creates inefficiencies, reduces accessibility, and hinders the overall event experience for all stakeholders.</a:t>
              </a:r>
              <a:endParaRPr lang="en-US" sz="3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191000" y="499027"/>
            <a:ext cx="9220200" cy="1252779"/>
            <a:chOff x="0" y="0"/>
            <a:chExt cx="12293600" cy="167037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293600" cy="1670372"/>
            </a:xfrm>
            <a:custGeom>
              <a:avLst/>
              <a:gdLst/>
              <a:ahLst/>
              <a:cxnLst/>
              <a:rect l="l" t="t" r="r" b="b"/>
              <a:pathLst>
                <a:path w="12293600" h="1670372">
                  <a:moveTo>
                    <a:pt x="0" y="0"/>
                  </a:moveTo>
                  <a:lnTo>
                    <a:pt x="12293600" y="0"/>
                  </a:lnTo>
                  <a:lnTo>
                    <a:pt x="12293600" y="1670372"/>
                  </a:lnTo>
                  <a:lnTo>
                    <a:pt x="0" y="16703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04800"/>
              <a:ext cx="12293600" cy="197517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0727"/>
                </a:lnSpc>
              </a:pPr>
              <a:r>
                <a:rPr lang="en-US" sz="7662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EE160FC5-5E7B-4712-75DC-80BD579BAC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9412" y="9155906"/>
            <a:ext cx="1247775" cy="1247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BF3EC-09CE-1576-A94C-737A973B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5A87D10-D13A-2BFD-DA7D-F1A7A0F4972E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C7FE46B-873C-57F0-A52C-68D536F21E52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A99E35B-A682-86E4-8C10-1282F012C324}"/>
              </a:ext>
            </a:extLst>
          </p:cNvPr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B385288-FF94-5621-C365-366E145DF4C2}"/>
                </a:ext>
              </a:extLst>
            </p:cNvPr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B71B8A2-9ED5-F070-570B-1E7D3F210A51}"/>
              </a:ext>
            </a:extLst>
          </p:cNvPr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8A7688-498E-405A-7A04-1C684455AB14}"/>
                </a:ext>
              </a:extLst>
            </p:cNvPr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3312B43F-1AD3-783E-A3BD-931E3D8DCF9F}"/>
              </a:ext>
            </a:extLst>
          </p:cNvPr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1394AB2-B694-AD1C-7B5C-891B5587A7AB}"/>
                </a:ext>
              </a:extLst>
            </p:cNvPr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A833D22-9D16-F971-D627-FA4C2D6C9BF5}"/>
              </a:ext>
            </a:extLst>
          </p:cNvPr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3A102A0-BC53-DC2D-E46E-8146C1986D59}"/>
                </a:ext>
              </a:extLst>
            </p:cNvPr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71E22B2-A0EB-6130-1070-5EA0E35158B8}"/>
              </a:ext>
            </a:extLst>
          </p:cNvPr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A276F4AD-22A9-A32A-D379-E509E4292FF1}"/>
                </a:ext>
              </a:extLst>
            </p:cNvPr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7E10A6A8-E94D-DD29-5D51-D6AD46FCD27A}"/>
                </a:ext>
              </a:extLst>
            </p:cNvPr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F75A06FF-7755-99B4-56DA-5346E60B1C2F}"/>
              </a:ext>
            </a:extLst>
          </p:cNvPr>
          <p:cNvGrpSpPr/>
          <p:nvPr/>
        </p:nvGrpSpPr>
        <p:grpSpPr>
          <a:xfrm>
            <a:off x="12915900" y="9505950"/>
            <a:ext cx="4114800" cy="576263"/>
            <a:chOff x="0" y="0"/>
            <a:chExt cx="5486400" cy="768351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BDE43C30-0862-3E66-B420-DFCBA9D877E1}"/>
                </a:ext>
              </a:extLst>
            </p:cNvPr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5C0E60DF-DDC2-A44D-3225-C537015072B1}"/>
                </a:ext>
              </a:extLst>
            </p:cNvPr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7A36ACD1-B054-8042-BD84-D0FAC51CFB81}"/>
              </a:ext>
            </a:extLst>
          </p:cNvPr>
          <p:cNvGrpSpPr/>
          <p:nvPr/>
        </p:nvGrpSpPr>
        <p:grpSpPr>
          <a:xfrm>
            <a:off x="510235" y="2400300"/>
            <a:ext cx="17267530" cy="5492394"/>
            <a:chOff x="0" y="-675219"/>
            <a:chExt cx="23023373" cy="7323192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09A3138D-5465-20BC-8CB1-0373FFC75455}"/>
                </a:ext>
              </a:extLst>
            </p:cNvPr>
            <p:cNvSpPr/>
            <p:nvPr/>
          </p:nvSpPr>
          <p:spPr>
            <a:xfrm>
              <a:off x="0" y="0"/>
              <a:ext cx="23023373" cy="6647973"/>
            </a:xfrm>
            <a:custGeom>
              <a:avLst/>
              <a:gdLst/>
              <a:ahLst/>
              <a:cxnLst/>
              <a:rect l="l" t="t" r="r" b="b"/>
              <a:pathLst>
                <a:path w="23023373" h="6647973">
                  <a:moveTo>
                    <a:pt x="0" y="0"/>
                  </a:moveTo>
                  <a:lnTo>
                    <a:pt x="23023373" y="0"/>
                  </a:lnTo>
                  <a:lnTo>
                    <a:pt x="23023373" y="6647973"/>
                  </a:lnTo>
                  <a:lnTo>
                    <a:pt x="0" y="66479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48F1871D-0ADF-8972-7C2C-30F570CA3ECA}"/>
                </a:ext>
              </a:extLst>
            </p:cNvPr>
            <p:cNvSpPr txBox="1"/>
            <p:nvPr/>
          </p:nvSpPr>
          <p:spPr>
            <a:xfrm>
              <a:off x="0" y="-675219"/>
              <a:ext cx="23023373" cy="67146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r>
                <a:rPr lang="en-US" sz="3500" b="1" dirty="0"/>
                <a:t>1 - Manage Venue Profile</a:t>
              </a:r>
            </a:p>
            <a:p>
              <a:r>
                <a:rPr lang="en-US" sz="3500" b="1" dirty="0"/>
                <a:t>	As a Venue Owner</a:t>
              </a:r>
              <a:r>
                <a:rPr lang="en-US" sz="3500" dirty="0"/>
                <a:t>, I want to add and edit my venue details </a:t>
              </a:r>
              <a:r>
                <a:rPr lang="en-US" sz="3500" b="1" dirty="0"/>
                <a:t>so that</a:t>
              </a:r>
              <a:r>
                <a:rPr lang="en-US" sz="3500" dirty="0"/>
                <a:t> customers can find 	accurate 	information.</a:t>
              </a:r>
            </a:p>
            <a:p>
              <a:r>
                <a:rPr lang="en-US" sz="3500" b="1" dirty="0"/>
                <a:t>2 - Receive Booking Requests</a:t>
              </a:r>
            </a:p>
            <a:p>
              <a:r>
                <a:rPr lang="en-US" sz="3500" b="1" dirty="0"/>
                <a:t>	As a Venue Owner</a:t>
              </a:r>
              <a:r>
                <a:rPr lang="en-US" sz="3500" dirty="0"/>
                <a:t>, I want to receive event booking requests </a:t>
              </a:r>
              <a:r>
                <a:rPr lang="en-US" sz="3500" b="1" dirty="0"/>
                <a:t>so that</a:t>
              </a:r>
              <a:r>
                <a:rPr lang="en-US" sz="3500" dirty="0"/>
                <a:t> I can review them before 	confirmation.</a:t>
              </a:r>
            </a:p>
            <a:p>
              <a:r>
                <a:rPr lang="en-US" sz="3500" b="1" dirty="0"/>
                <a:t>3 - Accept / Reject Event Requests</a:t>
              </a:r>
            </a:p>
            <a:p>
              <a:r>
                <a:rPr lang="en-US" sz="3500" b="1" dirty="0"/>
                <a:t>	As a Venue Owner</a:t>
              </a:r>
              <a:r>
                <a:rPr lang="en-US" sz="3500" dirty="0"/>
                <a:t>, I want to approve or reject booking requests </a:t>
              </a:r>
              <a:r>
                <a:rPr lang="en-US" sz="3500" b="1" dirty="0"/>
                <a:t>so that</a:t>
              </a:r>
              <a:r>
                <a:rPr lang="en-US" sz="3500" dirty="0"/>
                <a:t> I can control 	availability and scheduling.</a:t>
              </a:r>
            </a:p>
            <a:p>
              <a:r>
                <a:rPr lang="en-US" sz="3500" b="1" dirty="0"/>
                <a:t>4 - Receive Payments</a:t>
              </a:r>
            </a:p>
            <a:p>
              <a:r>
                <a:rPr lang="en-US" sz="3500" b="1" dirty="0"/>
                <a:t>	As a Venue Owner</a:t>
              </a:r>
              <a:r>
                <a:rPr lang="en-US" sz="3500" dirty="0"/>
                <a:t>, I want to receive rental payments directly to my account </a:t>
              </a:r>
              <a:r>
                <a:rPr lang="en-US" sz="3500" b="1" dirty="0"/>
                <a:t>so that</a:t>
              </a:r>
              <a:r>
                <a:rPr lang="en-US" sz="3500" dirty="0"/>
                <a:t> I can 	earn revenue securely.</a:t>
              </a:r>
            </a:p>
            <a:p>
              <a:endParaRPr lang="en-US" sz="3600" dirty="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CEDB4455-0217-02E4-3210-947A9DA82F05}"/>
              </a:ext>
            </a:extLst>
          </p:cNvPr>
          <p:cNvGrpSpPr/>
          <p:nvPr/>
        </p:nvGrpSpPr>
        <p:grpSpPr>
          <a:xfrm>
            <a:off x="3942079" y="557562"/>
            <a:ext cx="10993121" cy="1230488"/>
            <a:chOff x="0" y="-123825"/>
            <a:chExt cx="14657495" cy="164065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17FAC87C-C7BC-FC66-43D8-8863B943F9F9}"/>
                </a:ext>
              </a:extLst>
            </p:cNvPr>
            <p:cNvSpPr/>
            <p:nvPr/>
          </p:nvSpPr>
          <p:spPr>
            <a:xfrm>
              <a:off x="0" y="0"/>
              <a:ext cx="12320636" cy="1516825"/>
            </a:xfrm>
            <a:custGeom>
              <a:avLst/>
              <a:gdLst/>
              <a:ahLst/>
              <a:cxnLst/>
              <a:rect l="l" t="t" r="r" b="b"/>
              <a:pathLst>
                <a:path w="12320636" h="1516825">
                  <a:moveTo>
                    <a:pt x="0" y="0"/>
                  </a:moveTo>
                  <a:lnTo>
                    <a:pt x="12320636" y="0"/>
                  </a:lnTo>
                  <a:lnTo>
                    <a:pt x="12320636" y="1516825"/>
                  </a:lnTo>
                  <a:lnTo>
                    <a:pt x="0" y="15168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E23533AB-8F45-4BD2-CB5A-CFC76EC844C3}"/>
                </a:ext>
              </a:extLst>
            </p:cNvPr>
            <p:cNvSpPr txBox="1"/>
            <p:nvPr/>
          </p:nvSpPr>
          <p:spPr>
            <a:xfrm>
              <a:off x="0" y="-123825"/>
              <a:ext cx="14657495" cy="119247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9470"/>
                </a:lnSpc>
              </a:pPr>
              <a:r>
                <a:rPr lang="en-US" sz="6764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 Story : Venue Owner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ADAAA44E-2344-5B35-FE1F-D5489D3766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9412" y="8916137"/>
            <a:ext cx="1247775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04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810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102937" y="9505950"/>
            <a:ext cx="3740727" cy="576263"/>
            <a:chOff x="0" y="0"/>
            <a:chExt cx="4987636" cy="7683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87636" cy="768351"/>
            </a:xfrm>
            <a:custGeom>
              <a:avLst/>
              <a:gdLst/>
              <a:ahLst/>
              <a:cxnLst/>
              <a:rect l="l" t="t" r="r" b="b"/>
              <a:pathLst>
                <a:path w="4987636" h="768351">
                  <a:moveTo>
                    <a:pt x="0" y="0"/>
                  </a:moveTo>
                  <a:lnTo>
                    <a:pt x="4987636" y="0"/>
                  </a:lnTo>
                  <a:lnTo>
                    <a:pt x="4987636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987636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0235" y="2393514"/>
            <a:ext cx="17267530" cy="5499180"/>
            <a:chOff x="0" y="-684267"/>
            <a:chExt cx="23023373" cy="73322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023373" cy="6647973"/>
            </a:xfrm>
            <a:custGeom>
              <a:avLst/>
              <a:gdLst/>
              <a:ahLst/>
              <a:cxnLst/>
              <a:rect l="l" t="t" r="r" b="b"/>
              <a:pathLst>
                <a:path w="23023373" h="6647973">
                  <a:moveTo>
                    <a:pt x="0" y="0"/>
                  </a:moveTo>
                  <a:lnTo>
                    <a:pt x="23023373" y="0"/>
                  </a:lnTo>
                  <a:lnTo>
                    <a:pt x="23023373" y="6647973"/>
                  </a:lnTo>
                  <a:lnTo>
                    <a:pt x="0" y="66479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684267"/>
              <a:ext cx="23023373" cy="67146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r>
                <a:rPr lang="en-US" sz="3500" b="1" dirty="0"/>
                <a:t>1 - Browse Venues</a:t>
              </a:r>
            </a:p>
            <a:p>
              <a:r>
                <a:rPr lang="en-US" sz="3400" b="1" dirty="0"/>
                <a:t>	As an Event Organizer</a:t>
              </a:r>
              <a:r>
                <a:rPr lang="en-US" sz="3400" dirty="0"/>
                <a:t>, I want to browse venues </a:t>
              </a:r>
              <a:r>
                <a:rPr lang="en-US" sz="3400" b="1" dirty="0"/>
                <a:t>so that</a:t>
              </a:r>
              <a:r>
                <a:rPr lang="en-US" sz="3400" dirty="0"/>
                <a:t> I can find the right place for my </a:t>
              </a:r>
            </a:p>
            <a:p>
              <a:r>
                <a:rPr lang="en-US" sz="3400" dirty="0"/>
                <a:t>	event.</a:t>
              </a:r>
            </a:p>
            <a:p>
              <a:r>
                <a:rPr lang="en-US" sz="3500" b="1" dirty="0"/>
                <a:t>2 - Filter &amp; Search</a:t>
              </a:r>
            </a:p>
            <a:p>
              <a:r>
                <a:rPr lang="en-US" sz="3400" b="1" dirty="0"/>
                <a:t>	As an Event Organizer</a:t>
              </a:r>
              <a:r>
                <a:rPr lang="en-US" sz="3400" dirty="0"/>
                <a:t>, I want to filter venues by capacity, price, and location </a:t>
              </a:r>
              <a:r>
                <a:rPr lang="en-US" sz="3400" b="1" dirty="0"/>
                <a:t>so that</a:t>
              </a:r>
              <a:r>
                <a:rPr lang="en-US" sz="3400" dirty="0"/>
                <a:t> I can 	easily find a suitable venue.</a:t>
              </a:r>
            </a:p>
            <a:p>
              <a:r>
                <a:rPr lang="en-US" sz="3500" b="1" dirty="0"/>
                <a:t>3 - Book a Venue</a:t>
              </a:r>
            </a:p>
            <a:p>
              <a:pPr lvl="2"/>
              <a:r>
                <a:rPr lang="en-US" sz="3400" b="1" dirty="0"/>
                <a:t>As an Event Organizer</a:t>
              </a:r>
              <a:r>
                <a:rPr lang="en-US" sz="3400" dirty="0"/>
                <a:t>, I want to submit a booking request </a:t>
              </a:r>
              <a:r>
                <a:rPr lang="en-US" sz="3400" b="1" dirty="0"/>
                <a:t>so that</a:t>
              </a:r>
              <a:r>
                <a:rPr lang="en-US" sz="3400" dirty="0"/>
                <a:t> I can reserve the venue for my event.</a:t>
              </a:r>
            </a:p>
            <a:p>
              <a:r>
                <a:rPr lang="en-US" sz="3500" b="1" dirty="0"/>
                <a:t>4. Set Event Details &amp; Pricing</a:t>
              </a:r>
            </a:p>
            <a:p>
              <a:pPr lvl="2"/>
              <a:r>
                <a:rPr lang="en-US" sz="3400" b="1" dirty="0"/>
                <a:t>As an Event Organizer</a:t>
              </a:r>
              <a:r>
                <a:rPr lang="en-US" sz="3400" dirty="0"/>
                <a:t>, I want to set event details and ticket pricing </a:t>
              </a:r>
              <a:r>
                <a:rPr lang="en-US" sz="3400" b="1" dirty="0"/>
                <a:t>so that</a:t>
              </a:r>
              <a:r>
                <a:rPr lang="en-US" sz="3400" dirty="0"/>
                <a:t> attendees understand the event.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581400" y="703217"/>
            <a:ext cx="11887200" cy="1137619"/>
            <a:chOff x="0" y="0"/>
            <a:chExt cx="12320636" cy="15168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320636" cy="1516825"/>
            </a:xfrm>
            <a:custGeom>
              <a:avLst/>
              <a:gdLst/>
              <a:ahLst/>
              <a:cxnLst/>
              <a:rect l="l" t="t" r="r" b="b"/>
              <a:pathLst>
                <a:path w="12320636" h="1516825">
                  <a:moveTo>
                    <a:pt x="0" y="0"/>
                  </a:moveTo>
                  <a:lnTo>
                    <a:pt x="12320636" y="0"/>
                  </a:lnTo>
                  <a:lnTo>
                    <a:pt x="12320636" y="1516825"/>
                  </a:lnTo>
                  <a:lnTo>
                    <a:pt x="0" y="15168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123825"/>
              <a:ext cx="12320636" cy="1640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9470"/>
                </a:lnSpc>
              </a:pPr>
              <a:r>
                <a:rPr lang="en-US" sz="6764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 Story : </a:t>
              </a:r>
              <a:r>
                <a:rPr lang="en-US" sz="7200" b="1" dirty="0"/>
                <a:t>Event Organizer</a:t>
              </a:r>
              <a:endParaRPr lang="en-US" sz="676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3361C210-C757-9873-CA69-3490BA0CE9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9412" y="8834438"/>
            <a:ext cx="1247775" cy="1247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66DE8-E7BD-9C11-7991-EC33C5D2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849A0E-6D4C-F3F6-B42D-9B0909070521}"/>
              </a:ext>
            </a:extLst>
          </p:cNvPr>
          <p:cNvGrpSpPr/>
          <p:nvPr/>
        </p:nvGrpSpPr>
        <p:grpSpPr>
          <a:xfrm>
            <a:off x="0" y="-11430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2C78D88-11FF-1B98-B836-52C513413E4B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6A9DB2F-1E5F-3992-4941-172EFB6C5F27}"/>
              </a:ext>
            </a:extLst>
          </p:cNvPr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36A33C3-8F76-1B01-7B70-35D38C0DCF9F}"/>
                </a:ext>
              </a:extLst>
            </p:cNvPr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ED25027-C7E8-689B-AF19-389333C5FADA}"/>
              </a:ext>
            </a:extLst>
          </p:cNvPr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A1FFD34-9DD2-E7FE-B124-B495AA6325E5}"/>
                </a:ext>
              </a:extLst>
            </p:cNvPr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17CDDA5-D110-A5A5-2E08-3D49CBFE2125}"/>
              </a:ext>
            </a:extLst>
          </p:cNvPr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9DDDF43-EA94-1785-BB0C-A826F5EF243D}"/>
                </a:ext>
              </a:extLst>
            </p:cNvPr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774C21A-9EA9-B90B-0070-65AD4CA4EAC4}"/>
              </a:ext>
            </a:extLst>
          </p:cNvPr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C2E29E1-05FD-447B-1A86-C45035B1081F}"/>
                </a:ext>
              </a:extLst>
            </p:cNvPr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12F5D94-6B31-05DF-E434-B0DAD151A25C}"/>
              </a:ext>
            </a:extLst>
          </p:cNvPr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3A8659AC-DF5B-6EE5-43D8-38BBF6765B25}"/>
                </a:ext>
              </a:extLst>
            </p:cNvPr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DD419CF8-C8F1-5205-5BCC-9E4A82197A13}"/>
                </a:ext>
              </a:extLst>
            </p:cNvPr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71A9A52A-69ED-B333-A924-B7CAAE088083}"/>
              </a:ext>
            </a:extLst>
          </p:cNvPr>
          <p:cNvGrpSpPr/>
          <p:nvPr/>
        </p:nvGrpSpPr>
        <p:grpSpPr>
          <a:xfrm>
            <a:off x="12915900" y="9505950"/>
            <a:ext cx="4114800" cy="576263"/>
            <a:chOff x="0" y="0"/>
            <a:chExt cx="5486400" cy="768351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26B6D0F2-5222-C5B7-ABD8-2C3FECEFB356}"/>
                </a:ext>
              </a:extLst>
            </p:cNvPr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45FE2FC7-2A18-54E8-32A3-1323F237CE60}"/>
                </a:ext>
              </a:extLst>
            </p:cNvPr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E3D37A45-5FE2-79F0-94BA-DF5592002CCD}"/>
              </a:ext>
            </a:extLst>
          </p:cNvPr>
          <p:cNvGrpSpPr/>
          <p:nvPr/>
        </p:nvGrpSpPr>
        <p:grpSpPr>
          <a:xfrm>
            <a:off x="510235" y="2906714"/>
            <a:ext cx="17267530" cy="5513386"/>
            <a:chOff x="0" y="0"/>
            <a:chExt cx="23023373" cy="7351181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50006C39-69E5-5A68-FB2E-827A2E9B5CCA}"/>
                </a:ext>
              </a:extLst>
            </p:cNvPr>
            <p:cNvSpPr/>
            <p:nvPr/>
          </p:nvSpPr>
          <p:spPr>
            <a:xfrm>
              <a:off x="0" y="0"/>
              <a:ext cx="23023373" cy="6647973"/>
            </a:xfrm>
            <a:custGeom>
              <a:avLst/>
              <a:gdLst/>
              <a:ahLst/>
              <a:cxnLst/>
              <a:rect l="l" t="t" r="r" b="b"/>
              <a:pathLst>
                <a:path w="23023373" h="6647973">
                  <a:moveTo>
                    <a:pt x="0" y="0"/>
                  </a:moveTo>
                  <a:lnTo>
                    <a:pt x="23023373" y="0"/>
                  </a:lnTo>
                  <a:lnTo>
                    <a:pt x="23023373" y="6647973"/>
                  </a:lnTo>
                  <a:lnTo>
                    <a:pt x="0" y="66479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470FEE72-822C-01E5-FA5B-013E6F0B7F68}"/>
                </a:ext>
              </a:extLst>
            </p:cNvPr>
            <p:cNvSpPr txBox="1"/>
            <p:nvPr/>
          </p:nvSpPr>
          <p:spPr>
            <a:xfrm>
              <a:off x="0" y="636533"/>
              <a:ext cx="23023373" cy="67146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r>
                <a:rPr lang="en-US" sz="3600" b="1" dirty="0"/>
                <a:t>1 - Review Venues</a:t>
              </a:r>
            </a:p>
            <a:p>
              <a:pPr lvl="1"/>
              <a:r>
                <a:rPr lang="en-US" sz="3400" b="1" dirty="0"/>
                <a:t>	As an Admin</a:t>
              </a:r>
              <a:r>
                <a:rPr lang="en-US" sz="3400" dirty="0"/>
                <a:t>, I want to review newly submitted venues </a:t>
              </a:r>
              <a:r>
                <a:rPr lang="en-US" sz="3400" b="1" dirty="0"/>
                <a:t>so that</a:t>
              </a:r>
              <a:r>
                <a:rPr lang="en-US" sz="3400" dirty="0"/>
                <a:t> I can approve only valid and 	trusted listings.</a:t>
              </a:r>
            </a:p>
            <a:p>
              <a:r>
                <a:rPr lang="en-US" sz="3600" b="1" dirty="0"/>
                <a:t>2 - Approve / Reject Venues</a:t>
              </a:r>
            </a:p>
            <a:p>
              <a:pPr lvl="1"/>
              <a:r>
                <a:rPr lang="en-US" sz="3400" b="1" dirty="0"/>
                <a:t>	As an Admin</a:t>
              </a:r>
              <a:r>
                <a:rPr lang="en-US" sz="3400" dirty="0"/>
                <a:t>, I want to approve or reject venue submissions </a:t>
              </a:r>
              <a:r>
                <a:rPr lang="en-US" sz="3400" b="1" dirty="0"/>
                <a:t>so that</a:t>
              </a:r>
              <a:r>
                <a:rPr lang="en-US" sz="3400" dirty="0"/>
                <a:t> only compliant venues 	appear to users.</a:t>
              </a:r>
            </a:p>
            <a:p>
              <a:r>
                <a:rPr lang="en-US" sz="3600" b="1" dirty="0"/>
                <a:t>3 - Review Events</a:t>
              </a:r>
            </a:p>
            <a:p>
              <a:r>
                <a:rPr lang="en-US" sz="3600" b="1" dirty="0"/>
                <a:t>	</a:t>
              </a:r>
              <a:r>
                <a:rPr lang="en-US" sz="3400" b="1" dirty="0"/>
                <a:t>As an Admin</a:t>
              </a:r>
              <a:r>
                <a:rPr lang="en-US" sz="3400" dirty="0"/>
                <a:t>, I want to review event requests </a:t>
              </a:r>
              <a:r>
                <a:rPr lang="en-US" sz="3400" b="1" dirty="0"/>
                <a:t>so that</a:t>
              </a:r>
              <a:r>
                <a:rPr lang="en-US" sz="3400" dirty="0"/>
                <a:t> I ensure events meet platform policies.</a:t>
              </a:r>
            </a:p>
            <a:p>
              <a:pPr lvl="2"/>
              <a:endParaRPr lang="en-US" sz="3400" dirty="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85DB4D06-41C0-C6E1-62FF-F2B3932CEF63}"/>
              </a:ext>
            </a:extLst>
          </p:cNvPr>
          <p:cNvGrpSpPr/>
          <p:nvPr/>
        </p:nvGrpSpPr>
        <p:grpSpPr>
          <a:xfrm>
            <a:off x="4780323" y="650431"/>
            <a:ext cx="9240477" cy="1137619"/>
            <a:chOff x="0" y="0"/>
            <a:chExt cx="12320636" cy="1516825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DEEDA718-7607-A4EA-1531-230F57DE7B3C}"/>
                </a:ext>
              </a:extLst>
            </p:cNvPr>
            <p:cNvSpPr/>
            <p:nvPr/>
          </p:nvSpPr>
          <p:spPr>
            <a:xfrm>
              <a:off x="0" y="0"/>
              <a:ext cx="12320636" cy="1516825"/>
            </a:xfrm>
            <a:custGeom>
              <a:avLst/>
              <a:gdLst/>
              <a:ahLst/>
              <a:cxnLst/>
              <a:rect l="l" t="t" r="r" b="b"/>
              <a:pathLst>
                <a:path w="12320636" h="1516825">
                  <a:moveTo>
                    <a:pt x="0" y="0"/>
                  </a:moveTo>
                  <a:lnTo>
                    <a:pt x="12320636" y="0"/>
                  </a:lnTo>
                  <a:lnTo>
                    <a:pt x="12320636" y="1516825"/>
                  </a:lnTo>
                  <a:lnTo>
                    <a:pt x="0" y="15168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D0B32BAE-AC08-2220-5801-08F6FC99076B}"/>
                </a:ext>
              </a:extLst>
            </p:cNvPr>
            <p:cNvSpPr txBox="1"/>
            <p:nvPr/>
          </p:nvSpPr>
          <p:spPr>
            <a:xfrm>
              <a:off x="0" y="-123825"/>
              <a:ext cx="12320636" cy="1640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9470"/>
                </a:lnSpc>
              </a:pPr>
              <a:r>
                <a:rPr lang="en-US" sz="6764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 Story : Admin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5835E6C4-FE61-1098-0C40-98949CDB8D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9412" y="8924925"/>
            <a:ext cx="1247775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351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1430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15900" y="9505950"/>
            <a:ext cx="4114800" cy="576263"/>
            <a:chOff x="0" y="0"/>
            <a:chExt cx="5486400" cy="7683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0235" y="2906714"/>
            <a:ext cx="17267530" cy="5360986"/>
            <a:chOff x="0" y="0"/>
            <a:chExt cx="23023373" cy="714798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023373" cy="6647973"/>
            </a:xfrm>
            <a:custGeom>
              <a:avLst/>
              <a:gdLst/>
              <a:ahLst/>
              <a:cxnLst/>
              <a:rect l="l" t="t" r="r" b="b"/>
              <a:pathLst>
                <a:path w="23023373" h="6647973">
                  <a:moveTo>
                    <a:pt x="0" y="0"/>
                  </a:moveTo>
                  <a:lnTo>
                    <a:pt x="23023373" y="0"/>
                  </a:lnTo>
                  <a:lnTo>
                    <a:pt x="23023373" y="6647973"/>
                  </a:lnTo>
                  <a:lnTo>
                    <a:pt x="0" y="66479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433333"/>
              <a:ext cx="23023373" cy="67146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r>
                <a:rPr lang="en-US" sz="3600" b="1" dirty="0"/>
                <a:t>4 - Approve / Reject Events</a:t>
              </a:r>
            </a:p>
            <a:p>
              <a:pPr lvl="1"/>
              <a:r>
                <a:rPr lang="en-US" sz="3400" b="1" dirty="0"/>
                <a:t>As an Admin</a:t>
              </a:r>
              <a:r>
                <a:rPr lang="en-US" sz="3400" dirty="0"/>
                <a:t>, I want to approve or reject event requests </a:t>
              </a:r>
              <a:r>
                <a:rPr lang="en-US" sz="3400" b="1" dirty="0"/>
                <a:t>so that</a:t>
              </a:r>
              <a:r>
                <a:rPr lang="en-US" sz="3400" dirty="0"/>
                <a:t> only verified events go live on the platform.</a:t>
              </a:r>
            </a:p>
            <a:p>
              <a:r>
                <a:rPr lang="en-US" sz="3600" b="1" dirty="0"/>
                <a:t>5 - Delete Users</a:t>
              </a:r>
            </a:p>
            <a:p>
              <a:pPr lvl="1"/>
              <a:r>
                <a:rPr lang="en-US" sz="3400" b="1" dirty="0"/>
                <a:t>As an Admin</a:t>
              </a:r>
              <a:r>
                <a:rPr lang="en-US" sz="3400" dirty="0"/>
                <a:t>, I want to delete or disable user accounts </a:t>
              </a:r>
              <a:r>
                <a:rPr lang="en-US" sz="3400" b="1" dirty="0"/>
                <a:t>so that</a:t>
              </a:r>
              <a:r>
                <a:rPr lang="en-US" sz="3400" dirty="0"/>
                <a:t> I can remove users who violate platform rules or pose security risks.</a:t>
              </a:r>
            </a:p>
            <a:p>
              <a:endParaRPr lang="en-US" sz="3400" dirty="0"/>
            </a:p>
            <a:p>
              <a:endParaRPr lang="en-US" sz="3400" dirty="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80323" y="650431"/>
            <a:ext cx="9240477" cy="1137619"/>
            <a:chOff x="0" y="0"/>
            <a:chExt cx="12320636" cy="15168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320636" cy="1516825"/>
            </a:xfrm>
            <a:custGeom>
              <a:avLst/>
              <a:gdLst/>
              <a:ahLst/>
              <a:cxnLst/>
              <a:rect l="l" t="t" r="r" b="b"/>
              <a:pathLst>
                <a:path w="12320636" h="1516825">
                  <a:moveTo>
                    <a:pt x="0" y="0"/>
                  </a:moveTo>
                  <a:lnTo>
                    <a:pt x="12320636" y="0"/>
                  </a:lnTo>
                  <a:lnTo>
                    <a:pt x="12320636" y="1516825"/>
                  </a:lnTo>
                  <a:lnTo>
                    <a:pt x="0" y="15168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123825"/>
              <a:ext cx="12320636" cy="1640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9470"/>
                </a:lnSpc>
              </a:pPr>
              <a:r>
                <a:rPr lang="en-US" sz="6764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 Story : Admin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6C0F7779-23DE-D51F-7125-E8C698E10E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0" y="8834438"/>
            <a:ext cx="1247775" cy="1247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06375" y="9505950"/>
            <a:ext cx="4114800" cy="576263"/>
            <a:chOff x="0" y="0"/>
            <a:chExt cx="5486400" cy="7683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57300" y="1675810"/>
            <a:ext cx="15349526" cy="609574"/>
            <a:chOff x="0" y="0"/>
            <a:chExt cx="20466035" cy="8127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466034" cy="812765"/>
            </a:xfrm>
            <a:custGeom>
              <a:avLst/>
              <a:gdLst/>
              <a:ahLst/>
              <a:cxnLst/>
              <a:rect l="l" t="t" r="r" b="b"/>
              <a:pathLst>
                <a:path w="20466034" h="812765">
                  <a:moveTo>
                    <a:pt x="0" y="0"/>
                  </a:moveTo>
                  <a:lnTo>
                    <a:pt x="20466034" y="0"/>
                  </a:lnTo>
                  <a:lnTo>
                    <a:pt x="20466034" y="812765"/>
                  </a:lnTo>
                  <a:lnTo>
                    <a:pt x="0" y="8127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20466035" cy="8889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08"/>
                </a:lnSpc>
              </a:pPr>
              <a:r>
                <a:rPr lang="en-US" sz="3507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Relational database using Microsoft SQL Server, managed via Entity Framework Core.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0" y="669481"/>
            <a:ext cx="6172199" cy="946478"/>
            <a:chOff x="0" y="0"/>
            <a:chExt cx="8229599" cy="126197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598" cy="1261971"/>
            </a:xfrm>
            <a:custGeom>
              <a:avLst/>
              <a:gdLst/>
              <a:ahLst/>
              <a:cxnLst/>
              <a:rect l="l" t="t" r="r" b="b"/>
              <a:pathLst>
                <a:path w="8229598" h="1261971">
                  <a:moveTo>
                    <a:pt x="0" y="0"/>
                  </a:moveTo>
                  <a:lnTo>
                    <a:pt x="8229598" y="0"/>
                  </a:lnTo>
                  <a:lnTo>
                    <a:pt x="8229598" y="1261971"/>
                  </a:lnTo>
                  <a:lnTo>
                    <a:pt x="0" y="12619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104775"/>
              <a:ext cx="8229599" cy="13667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7891"/>
                </a:lnSpc>
              </a:pPr>
              <a:r>
                <a:rPr lang="en-US" sz="5637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Database Design 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82746" y="2324100"/>
            <a:ext cx="17411386" cy="5357940"/>
            <a:chOff x="0" y="-310980"/>
            <a:chExt cx="23215181" cy="71439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3215181" cy="6832940"/>
            </a:xfrm>
            <a:custGeom>
              <a:avLst/>
              <a:gdLst/>
              <a:ahLst/>
              <a:cxnLst/>
              <a:rect l="l" t="t" r="r" b="b"/>
              <a:pathLst>
                <a:path w="23215181" h="6832940">
                  <a:moveTo>
                    <a:pt x="0" y="0"/>
                  </a:moveTo>
                  <a:lnTo>
                    <a:pt x="23215181" y="0"/>
                  </a:lnTo>
                  <a:lnTo>
                    <a:pt x="23215181" y="6832940"/>
                  </a:lnTo>
                  <a:lnTo>
                    <a:pt x="0" y="68329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10980"/>
              <a:ext cx="23215181" cy="68805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3097"/>
                </a:lnSpc>
              </a:pPr>
              <a:r>
                <a:rPr lang="en-US" sz="2800" dirty="0"/>
                <a:t>Key Features Addressing User Needs (Events/Venues Application)</a:t>
              </a:r>
              <a:endParaRPr lang="ar-EG" sz="2800" dirty="0"/>
            </a:p>
            <a:p>
              <a:pPr>
                <a:lnSpc>
                  <a:spcPts val="3097"/>
                </a:lnSpc>
              </a:pPr>
              <a:endParaRPr lang="ar-EG" sz="2800" dirty="0"/>
            </a:p>
            <a:p>
              <a:pPr marL="457200" indent="-457200">
                <a:buFont typeface="Courier New" panose="02070309020205020404" pitchFamily="49" charset="0"/>
                <a:buChar char="o"/>
              </a:pPr>
              <a:r>
                <a:rPr lang="en-US" sz="2800" b="1" dirty="0"/>
                <a:t>Events:</a:t>
              </a:r>
              <a:r>
                <a:rPr lang="en-US" sz="2800" dirty="0"/>
                <a:t> Linked to Venue (many-to-one); linked to </a:t>
              </a:r>
              <a:r>
                <a:rPr lang="en-US" sz="2800" dirty="0" err="1"/>
                <a:t>EventPhotos</a:t>
              </a:r>
              <a:r>
                <a:rPr lang="en-US" sz="2800" dirty="0"/>
                <a:t> (one-to-many) and Payments (one-to-many). Stores essential details like Date, Description, Category, and Status.</a:t>
              </a:r>
            </a:p>
            <a:p>
              <a:pPr marL="457200" indent="-457200">
                <a:buFont typeface="Courier New" panose="02070309020205020404" pitchFamily="49" charset="0"/>
                <a:buChar char="o"/>
              </a:pPr>
              <a:r>
                <a:rPr lang="en-US" sz="2800" b="1" dirty="0"/>
                <a:t>Venues:</a:t>
              </a:r>
              <a:r>
                <a:rPr lang="en-US" sz="2800" dirty="0"/>
                <a:t> Contains location details such as Address, City, State, and Capacity; linked to Events (one-to-many) and </a:t>
              </a:r>
              <a:r>
                <a:rPr lang="en-US" sz="2800" dirty="0" err="1"/>
                <a:t>VenuePhotos</a:t>
              </a:r>
              <a:r>
                <a:rPr lang="en-US" sz="2800" dirty="0"/>
                <a:t> (one-to-many).</a:t>
              </a:r>
            </a:p>
            <a:p>
              <a:pPr marL="457200" indent="-457200">
                <a:buFont typeface="Courier New" panose="02070309020205020404" pitchFamily="49" charset="0"/>
                <a:buChar char="o"/>
              </a:pPr>
              <a:r>
                <a:rPr lang="en-US" sz="2800" b="1" dirty="0"/>
                <a:t>Payments:</a:t>
              </a:r>
              <a:r>
                <a:rPr lang="en-US" sz="2800" dirty="0"/>
                <a:t> Linked to Events (one-to-one); stores the payment ID, Amount, Reference, and </a:t>
              </a:r>
              <a:r>
                <a:rPr lang="en-US" sz="2800" dirty="0" err="1"/>
                <a:t>EventName</a:t>
              </a:r>
              <a:r>
                <a:rPr lang="en-US" sz="2800" dirty="0"/>
                <a:t>.</a:t>
              </a:r>
            </a:p>
            <a:p>
              <a:pPr marL="457200" indent="-457200">
                <a:buFont typeface="Courier New" panose="02070309020205020404" pitchFamily="49" charset="0"/>
                <a:buChar char="o"/>
              </a:pPr>
              <a:r>
                <a:rPr lang="en-US" sz="2800" b="1" dirty="0" err="1"/>
                <a:t>AspNetUsers</a:t>
              </a:r>
              <a:r>
                <a:rPr lang="en-US" sz="2800" b="1" dirty="0"/>
                <a:t> (User):</a:t>
              </a:r>
              <a:r>
                <a:rPr lang="en-US" sz="2800" dirty="0"/>
                <a:t> Managed via </a:t>
              </a:r>
              <a:r>
                <a:rPr lang="en-US" sz="2800" b="1" dirty="0"/>
                <a:t>ASP.NET Identity</a:t>
              </a:r>
              <a:r>
                <a:rPr lang="en-US" sz="2800" dirty="0"/>
                <a:t>, with roles (via </a:t>
              </a:r>
              <a:r>
                <a:rPr lang="en-US" sz="2800" dirty="0" err="1"/>
                <a:t>AspNetRoles</a:t>
              </a:r>
              <a:r>
                <a:rPr lang="en-US" sz="2800" dirty="0"/>
                <a:t>) to handle permissions. This is the central entity linked to user-specific data like profile details and login information.</a:t>
              </a:r>
            </a:p>
            <a:p>
              <a:pPr marL="457200" indent="-457200">
                <a:buFont typeface="Courier New" panose="02070309020205020404" pitchFamily="49" charset="0"/>
                <a:buChar char="o"/>
              </a:pPr>
              <a:r>
                <a:rPr lang="en-US" sz="2800" b="1" dirty="0" err="1"/>
                <a:t>EventPhotos</a:t>
              </a:r>
              <a:r>
                <a:rPr lang="en-US" sz="2800" b="1" dirty="0"/>
                <a:t> / </a:t>
              </a:r>
              <a:r>
                <a:rPr lang="en-US" sz="2800" b="1" dirty="0" err="1"/>
                <a:t>VenuePhotos</a:t>
              </a:r>
              <a:r>
                <a:rPr lang="en-US" sz="2800" b="1" dirty="0"/>
                <a:t>:</a:t>
              </a:r>
              <a:r>
                <a:rPr lang="en-US" sz="2800" dirty="0"/>
                <a:t> Stores visual content related to the main entities, linked to Events and Venues with a (one-to-many) relationship.</a:t>
              </a:r>
            </a:p>
            <a:p>
              <a:pPr marL="457200" indent="-457200">
                <a:buFont typeface="Courier New" panose="02070309020205020404" pitchFamily="49" charset="0"/>
                <a:buChar char="o"/>
              </a:pPr>
              <a:r>
                <a:rPr lang="en-US" sz="2800" b="1" dirty="0" err="1"/>
                <a:t>AspNetRoles</a:t>
              </a:r>
              <a:r>
                <a:rPr lang="en-US" sz="2800" b="1" dirty="0"/>
                <a:t>:</a:t>
              </a:r>
              <a:r>
                <a:rPr lang="en-US" sz="2800" dirty="0"/>
                <a:t> Used to manage and organize user permissions and access levels (e.g., Customer, Admin, Seller), linked to </a:t>
              </a:r>
              <a:r>
                <a:rPr lang="en-US" sz="2800" dirty="0" err="1"/>
                <a:t>AspNetUsers</a:t>
              </a:r>
              <a:r>
                <a:rPr lang="en-US" sz="2800" dirty="0"/>
                <a:t> through the </a:t>
              </a:r>
              <a:r>
                <a:rPr lang="en-US" sz="2800" dirty="0" err="1"/>
                <a:t>AspNetUserRoles</a:t>
              </a:r>
              <a:r>
                <a:rPr lang="en-US" sz="2800" dirty="0"/>
                <a:t> junction table.</a:t>
              </a:r>
            </a:p>
            <a:p>
              <a:pPr>
                <a:lnSpc>
                  <a:spcPts val="3097"/>
                </a:lnSpc>
              </a:pPr>
              <a:endParaRPr lang="en-US" sz="2581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82746" y="8128486"/>
            <a:ext cx="17259300" cy="876297"/>
            <a:chOff x="0" y="0"/>
            <a:chExt cx="23012400" cy="11683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3012400" cy="1168396"/>
            </a:xfrm>
            <a:custGeom>
              <a:avLst/>
              <a:gdLst/>
              <a:ahLst/>
              <a:cxnLst/>
              <a:rect l="l" t="t" r="r" b="b"/>
              <a:pathLst>
                <a:path w="23012400" h="1168396">
                  <a:moveTo>
                    <a:pt x="0" y="0"/>
                  </a:moveTo>
                  <a:lnTo>
                    <a:pt x="23012400" y="0"/>
                  </a:lnTo>
                  <a:lnTo>
                    <a:pt x="23012400" y="1168396"/>
                  </a:lnTo>
                  <a:lnTo>
                    <a:pt x="0" y="1168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23012400" cy="12255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38"/>
                </a:lnSpc>
              </a:pPr>
              <a:r>
                <a:rPr lang="en-US" sz="2800" b="1" dirty="0"/>
                <a:t>Data Flow:</a:t>
              </a:r>
              <a:r>
                <a:rPr lang="en-US" sz="2800" dirty="0"/>
                <a:t> Data collected via user inputs (e.g., event creation, venue booking) on </a:t>
              </a:r>
              <a:r>
                <a:rPr lang="en-US" sz="2800" b="1" dirty="0"/>
                <a:t>Razor Pages</a:t>
              </a:r>
              <a:r>
                <a:rPr lang="en-US" sz="2800" dirty="0"/>
                <a:t>; stored in </a:t>
              </a:r>
              <a:r>
                <a:rPr lang="en-US" sz="2800" b="1" dirty="0"/>
                <a:t>SQL Server</a:t>
              </a:r>
              <a:r>
                <a:rPr lang="en-US" sz="2800" dirty="0"/>
                <a:t> </a:t>
              </a:r>
              <a:r>
                <a:rPr lang="ar-EG" sz="2800" dirty="0"/>
                <a:t>	</a:t>
              </a:r>
              <a:r>
                <a:rPr lang="en-US" sz="2800" dirty="0"/>
                <a:t>using </a:t>
              </a:r>
              <a:r>
                <a:rPr lang="en-US" sz="2800" b="1" dirty="0"/>
                <a:t>EF Core</a:t>
              </a:r>
              <a:r>
                <a:rPr lang="en-US" sz="2800" dirty="0"/>
                <a:t>; accessed through </a:t>
              </a:r>
              <a:r>
                <a:rPr lang="en-US" sz="2800" b="1" dirty="0"/>
                <a:t>Repository Pattern</a:t>
              </a:r>
              <a:r>
                <a:rPr lang="en-US" sz="2800" dirty="0"/>
                <a:t> with </a:t>
              </a:r>
              <a:r>
                <a:rPr lang="en-US" sz="2800" b="1" dirty="0"/>
                <a:t>Unit of Work</a:t>
              </a:r>
              <a:r>
                <a:rPr lang="en-US" sz="2800" dirty="0"/>
                <a:t> ensuring atomic transactions.</a:t>
              </a:r>
              <a:endParaRPr lang="en-US" sz="26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EB83C8B3-F271-AB65-B617-B1387757C3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39887" y="8916137"/>
            <a:ext cx="1247775" cy="1247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5800" y="-396454"/>
            <a:ext cx="19431000" cy="10683454"/>
            <a:chOff x="0" y="0"/>
            <a:chExt cx="25908000" cy="142446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08000" cy="14244574"/>
            </a:xfrm>
            <a:custGeom>
              <a:avLst/>
              <a:gdLst/>
              <a:ahLst/>
              <a:cxnLst/>
              <a:rect l="l" t="t" r="r" b="b"/>
              <a:pathLst>
                <a:path w="25908000" h="14244574">
                  <a:moveTo>
                    <a:pt x="0" y="0"/>
                  </a:moveTo>
                  <a:lnTo>
                    <a:pt x="25908000" y="0"/>
                  </a:lnTo>
                  <a:lnTo>
                    <a:pt x="25908000" y="14244574"/>
                  </a:lnTo>
                  <a:lnTo>
                    <a:pt x="0" y="14244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168" b="-116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939954" y="9511816"/>
            <a:ext cx="4114800" cy="576263"/>
            <a:chOff x="0" y="0"/>
            <a:chExt cx="5486400" cy="7683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747252" y="9469273"/>
            <a:ext cx="4114800" cy="547733"/>
            <a:chOff x="0" y="0"/>
            <a:chExt cx="5486400" cy="7303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997604" y="9269498"/>
            <a:ext cx="4114800" cy="811203"/>
            <a:chOff x="0" y="0"/>
            <a:chExt cx="5486400" cy="10816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486400" cy="1081604"/>
            </a:xfrm>
            <a:custGeom>
              <a:avLst/>
              <a:gdLst/>
              <a:ahLst/>
              <a:cxnLst/>
              <a:rect l="l" t="t" r="r" b="b"/>
              <a:pathLst>
                <a:path w="5486400" h="1081604">
                  <a:moveTo>
                    <a:pt x="0" y="0"/>
                  </a:moveTo>
                  <a:lnTo>
                    <a:pt x="5486400" y="0"/>
                  </a:lnTo>
                  <a:lnTo>
                    <a:pt x="5486400" y="1081604"/>
                  </a:lnTo>
                  <a:lnTo>
                    <a:pt x="0" y="10816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5486400" cy="1119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529160" y="9568015"/>
            <a:ext cx="699135" cy="647891"/>
            <a:chOff x="0" y="0"/>
            <a:chExt cx="932180" cy="8638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932180" cy="90195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8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287081" y="1543243"/>
            <a:ext cx="3725839" cy="2539254"/>
          </a:xfrm>
          <a:custGeom>
            <a:avLst/>
            <a:gdLst/>
            <a:ahLst/>
            <a:cxnLst/>
            <a:rect l="l" t="t" r="r" b="b"/>
            <a:pathLst>
              <a:path w="4967786" h="3385672">
                <a:moveTo>
                  <a:pt x="0" y="0"/>
                </a:moveTo>
                <a:lnTo>
                  <a:pt x="4967786" y="0"/>
                </a:lnTo>
                <a:lnTo>
                  <a:pt x="4967786" y="3385672"/>
                </a:lnTo>
                <a:lnTo>
                  <a:pt x="0" y="338567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grpSp>
        <p:nvGrpSpPr>
          <p:cNvPr id="21" name="Group 21"/>
          <p:cNvGrpSpPr/>
          <p:nvPr/>
        </p:nvGrpSpPr>
        <p:grpSpPr>
          <a:xfrm>
            <a:off x="139976" y="-365974"/>
            <a:ext cx="2234648" cy="2079956"/>
            <a:chOff x="0" y="0"/>
            <a:chExt cx="2979531" cy="27732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5" b="-64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6091322" y="97229"/>
            <a:ext cx="1926864" cy="956639"/>
            <a:chOff x="0" y="0"/>
            <a:chExt cx="2569152" cy="12755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 b="-4"/>
              </a:stretch>
            </a:blipFill>
          </p:spPr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EC195DC5-737F-451E-8A3F-42C5C4749B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5915" y="1728151"/>
            <a:ext cx="18288000" cy="7758749"/>
          </a:xfrm>
          <a:prstGeom prst="rect">
            <a:avLst/>
          </a:prstGeom>
        </p:spPr>
      </p:pic>
      <p:sp>
        <p:nvSpPr>
          <p:cNvPr id="28" name="TextBox 20"/>
          <p:cNvSpPr txBox="1"/>
          <p:nvPr/>
        </p:nvSpPr>
        <p:spPr>
          <a:xfrm>
            <a:off x="0" y="1995215"/>
            <a:ext cx="3725839" cy="263212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9470"/>
              </a:lnSpc>
            </a:pPr>
            <a:r>
              <a:rPr lang="en-US" sz="676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 Diagram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54000" y="9505950"/>
            <a:ext cx="4076700" cy="576263"/>
            <a:chOff x="0" y="0"/>
            <a:chExt cx="5435600" cy="7683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35600" cy="768351"/>
            </a:xfrm>
            <a:custGeom>
              <a:avLst/>
              <a:gdLst/>
              <a:ahLst/>
              <a:cxnLst/>
              <a:rect l="l" t="t" r="r" b="b"/>
              <a:pathLst>
                <a:path w="5435600" h="768351">
                  <a:moveTo>
                    <a:pt x="0" y="0"/>
                  </a:moveTo>
                  <a:lnTo>
                    <a:pt x="5435600" y="0"/>
                  </a:lnTo>
                  <a:lnTo>
                    <a:pt x="54356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4356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569910" y="605032"/>
            <a:ext cx="11148181" cy="784167"/>
            <a:chOff x="0" y="0"/>
            <a:chExt cx="14864241" cy="10455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864242" cy="1045556"/>
            </a:xfrm>
            <a:custGeom>
              <a:avLst/>
              <a:gdLst/>
              <a:ahLst/>
              <a:cxnLst/>
              <a:rect l="l" t="t" r="r" b="b"/>
              <a:pathLst>
                <a:path w="14864242" h="1045556">
                  <a:moveTo>
                    <a:pt x="0" y="0"/>
                  </a:moveTo>
                  <a:lnTo>
                    <a:pt x="14864242" y="0"/>
                  </a:lnTo>
                  <a:lnTo>
                    <a:pt x="14864242" y="1045556"/>
                  </a:lnTo>
                  <a:lnTo>
                    <a:pt x="0" y="10455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4864241" cy="113128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6448"/>
                </a:lnSpc>
              </a:pPr>
              <a:r>
                <a:rPr lang="en-US" sz="4605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Database Diagram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53B07DCE-09DF-9F10-6EED-1D9B3219E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3288" y="1273969"/>
            <a:ext cx="9144000" cy="90773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24CF115-4AFE-BADA-9FCD-5CA973B989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68462" y="9039225"/>
            <a:ext cx="1247775" cy="12477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9431" y="9508378"/>
            <a:ext cx="3637596" cy="573881"/>
            <a:chOff x="0" y="0"/>
            <a:chExt cx="4850128" cy="76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50128" cy="765175"/>
            </a:xfrm>
            <a:custGeom>
              <a:avLst/>
              <a:gdLst/>
              <a:ahLst/>
              <a:cxnLst/>
              <a:rect l="l" t="t" r="r" b="b"/>
              <a:pathLst>
                <a:path w="4850128" h="765175">
                  <a:moveTo>
                    <a:pt x="0" y="0"/>
                  </a:moveTo>
                  <a:lnTo>
                    <a:pt x="4850128" y="0"/>
                  </a:lnTo>
                  <a:lnTo>
                    <a:pt x="4850128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9976" y="9505950"/>
            <a:ext cx="3429934" cy="576263"/>
            <a:chOff x="0" y="0"/>
            <a:chExt cx="4573245" cy="768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73245" cy="768351"/>
            </a:xfrm>
            <a:custGeom>
              <a:avLst/>
              <a:gdLst/>
              <a:ahLst/>
              <a:cxnLst/>
              <a:rect l="l" t="t" r="r" b="b"/>
              <a:pathLst>
                <a:path w="4573245" h="768351">
                  <a:moveTo>
                    <a:pt x="0" y="0"/>
                  </a:moveTo>
                  <a:lnTo>
                    <a:pt x="4573245" y="0"/>
                  </a:lnTo>
                  <a:lnTo>
                    <a:pt x="4573245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573245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54000" y="9505950"/>
            <a:ext cx="4114800" cy="576263"/>
            <a:chOff x="0" y="0"/>
            <a:chExt cx="5486400" cy="7683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569910" y="261309"/>
            <a:ext cx="11148181" cy="1835666"/>
            <a:chOff x="0" y="0"/>
            <a:chExt cx="14864241" cy="244755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864242" cy="2447554"/>
            </a:xfrm>
            <a:custGeom>
              <a:avLst/>
              <a:gdLst/>
              <a:ahLst/>
              <a:cxnLst/>
              <a:rect l="l" t="t" r="r" b="b"/>
              <a:pathLst>
                <a:path w="14864242" h="2447554">
                  <a:moveTo>
                    <a:pt x="0" y="0"/>
                  </a:moveTo>
                  <a:lnTo>
                    <a:pt x="14864242" y="0"/>
                  </a:lnTo>
                  <a:lnTo>
                    <a:pt x="14864242" y="2447554"/>
                  </a:lnTo>
                  <a:lnTo>
                    <a:pt x="0" y="2447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4864241" cy="25332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6448"/>
                </a:lnSpc>
              </a:pPr>
              <a:r>
                <a:rPr lang="en-US" sz="4605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Software Architechture</a:t>
              </a:r>
            </a:p>
            <a:p>
              <a:pPr algn="ctr">
                <a:lnSpc>
                  <a:spcPts val="4767"/>
                </a:lnSpc>
              </a:pPr>
              <a:r>
                <a:rPr lang="en-US" sz="3405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MVC &amp; 3 tire archtechure</a:t>
              </a:r>
            </a:p>
          </p:txBody>
        </p:sp>
      </p:grpSp>
      <p:graphicFrame>
        <p:nvGraphicFramePr>
          <p:cNvPr id="23" name="Table 23"/>
          <p:cNvGraphicFramePr>
            <a:graphicFrameLocks noGrp="1"/>
          </p:cNvGraphicFramePr>
          <p:nvPr/>
        </p:nvGraphicFramePr>
        <p:xfrm>
          <a:off x="4110877" y="1699925"/>
          <a:ext cx="10350336" cy="8429830"/>
        </p:xfrm>
        <a:graphic>
          <a:graphicData uri="http://schemas.openxmlformats.org/drawingml/2006/table">
            <a:tbl>
              <a:tblPr/>
              <a:tblGrid>
                <a:gridCol w="3450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0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0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020"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  <a:defRPr/>
                      </a:pPr>
                      <a:r>
                        <a:rPr lang="en-US" sz="2003" b="1">
                          <a:solidFill>
                            <a:srgbClr val="FFFFFF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Presentation Layer</a:t>
                      </a:r>
                      <a:endParaRPr lang="en-US" sz="1100"/>
                    </a:p>
                  </a:txBody>
                  <a:tcPr marL="47774" marR="47774" marT="47774" marB="47774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28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B3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  <a:defRPr/>
                      </a:pPr>
                      <a:r>
                        <a:rPr lang="en-US" sz="2003" b="1">
                          <a:solidFill>
                            <a:srgbClr val="FFFFFF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Business Logic Layer</a:t>
                      </a:r>
                      <a:endParaRPr lang="en-US" sz="1100"/>
                    </a:p>
                  </a:txBody>
                  <a:tcPr marL="47774" marR="47774" marT="47774" marB="47774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28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1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  <a:defRPr/>
                      </a:pPr>
                      <a:r>
                        <a:rPr lang="en-US" sz="2003" b="1">
                          <a:solidFill>
                            <a:srgbClr val="FFFFFF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Data Access Layer</a:t>
                      </a:r>
                      <a:endParaRPr lang="en-US" sz="1100"/>
                    </a:p>
                  </a:txBody>
                  <a:tcPr marL="47774" marR="47774" marT="47774" marB="47774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28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B8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0810"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559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5599"/>
                        </a:lnSpc>
                      </a:pPr>
                      <a:r>
                        <a:rPr lang="en-US" sz="3999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Controllers</a:t>
                      </a:r>
                    </a:p>
                    <a:p>
                      <a:pPr algn="ctr">
                        <a:lnSpc>
                          <a:spcPts val="5599"/>
                        </a:lnSpc>
                      </a:pPr>
                      <a:endParaRPr lang="en-US" sz="3999" b="1">
                        <a:solidFill>
                          <a:srgbClr val="000000"/>
                        </a:solidFill>
                        <a:latin typeface="DM Sans Bold"/>
                        <a:ea typeface="DM Sans Bold"/>
                        <a:cs typeface="DM Sans Bold"/>
                        <a:sym typeface="DM Sans Bold"/>
                      </a:endParaRPr>
                    </a:p>
                    <a:p>
                      <a:pPr algn="ctr">
                        <a:lnSpc>
                          <a:spcPts val="5599"/>
                        </a:lnSpc>
                      </a:pPr>
                      <a:endParaRPr lang="en-US" sz="3999" b="1">
                        <a:solidFill>
                          <a:srgbClr val="000000"/>
                        </a:solidFill>
                        <a:latin typeface="DM Sans Bold"/>
                        <a:ea typeface="DM Sans Bold"/>
                        <a:cs typeface="DM Sans Bold"/>
                        <a:sym typeface="DM Sans Bold"/>
                      </a:endParaRPr>
                    </a:p>
                    <a:p>
                      <a:pPr algn="ctr">
                        <a:lnSpc>
                          <a:spcPts val="5599"/>
                        </a:lnSpc>
                      </a:pPr>
                      <a:endParaRPr lang="en-US" sz="3999" b="1">
                        <a:solidFill>
                          <a:srgbClr val="000000"/>
                        </a:solidFill>
                        <a:latin typeface="DM Sans Bold"/>
                        <a:ea typeface="DM Sans Bold"/>
                        <a:cs typeface="DM Sans Bold"/>
                        <a:sym typeface="DM Sans Bold"/>
                      </a:endParaRPr>
                    </a:p>
                    <a:p>
                      <a:pPr algn="ctr">
                        <a:lnSpc>
                          <a:spcPts val="5599"/>
                        </a:lnSpc>
                      </a:pPr>
                      <a:r>
                        <a:rPr lang="en-US" sz="3999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Views</a:t>
                      </a:r>
                    </a:p>
                    <a:p>
                      <a:pPr algn="ctr">
                        <a:lnSpc>
                          <a:spcPts val="5599"/>
                        </a:lnSpc>
                      </a:pPr>
                      <a:endParaRPr lang="en-US" sz="3999" b="1">
                        <a:solidFill>
                          <a:srgbClr val="000000"/>
                        </a:solidFill>
                        <a:latin typeface="DM Sans Bold"/>
                        <a:ea typeface="DM Sans Bold"/>
                        <a:cs typeface="DM Sans Bold"/>
                        <a:sym typeface="DM Sans Bold"/>
                      </a:endParaRPr>
                    </a:p>
                    <a:p>
                      <a:pPr algn="ctr">
                        <a:lnSpc>
                          <a:spcPts val="5599"/>
                        </a:lnSpc>
                      </a:pPr>
                      <a:endParaRPr lang="en-US" sz="3999" b="1">
                        <a:solidFill>
                          <a:srgbClr val="000000"/>
                        </a:solidFill>
                        <a:latin typeface="DM Sans Bold"/>
                        <a:ea typeface="DM Sans Bold"/>
                        <a:cs typeface="DM Sans Bold"/>
                        <a:sym typeface="DM Sans Bold"/>
                      </a:endParaRPr>
                    </a:p>
                    <a:p>
                      <a:pPr algn="ctr">
                        <a:lnSpc>
                          <a:spcPts val="5599"/>
                        </a:lnSpc>
                      </a:pPr>
                      <a:endParaRPr lang="en-US" sz="3999" b="1">
                        <a:solidFill>
                          <a:srgbClr val="000000"/>
                        </a:solidFill>
                        <a:latin typeface="DM Sans Bold"/>
                        <a:ea typeface="DM Sans Bold"/>
                        <a:cs typeface="DM Sans Bold"/>
                        <a:sym typeface="DM Sans Bold"/>
                      </a:endParaRPr>
                    </a:p>
                    <a:p>
                      <a:pPr algn="ctr">
                        <a:lnSpc>
                          <a:spcPts val="5599"/>
                        </a:lnSpc>
                      </a:pPr>
                      <a:endParaRPr lang="en-US" sz="3999" b="1">
                        <a:solidFill>
                          <a:srgbClr val="000000"/>
                        </a:solidFill>
                        <a:latin typeface="DM Sans Bold"/>
                        <a:ea typeface="DM Sans Bold"/>
                        <a:cs typeface="DM Sans Bold"/>
                        <a:sym typeface="DM Sans Bold"/>
                      </a:endParaRPr>
                    </a:p>
                  </a:txBody>
                  <a:tcPr marL="47774" marR="47774" marT="47774" marB="47774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B1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endParaRPr lang="en-US" sz="1100" dirty="0"/>
                    </a:p>
                    <a:p>
                      <a:pPr algn="ctr">
                        <a:lnSpc>
                          <a:spcPts val="5599"/>
                        </a:lnSpc>
                      </a:pPr>
                      <a:endParaRPr lang="en-US" sz="1100" dirty="0"/>
                    </a:p>
                    <a:p>
                      <a:pPr algn="ctr">
                        <a:lnSpc>
                          <a:spcPts val="5599"/>
                        </a:lnSpc>
                      </a:pPr>
                      <a:r>
                        <a:rPr lang="en-US" sz="3999" b="1" dirty="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Services</a:t>
                      </a:r>
                    </a:p>
                    <a:p>
                      <a:pPr algn="ctr">
                        <a:lnSpc>
                          <a:spcPts val="5599"/>
                        </a:lnSpc>
                      </a:pPr>
                      <a:endParaRPr lang="en-US" sz="3999" b="1" dirty="0">
                        <a:solidFill>
                          <a:srgbClr val="000000"/>
                        </a:solidFill>
                        <a:latin typeface="DM Sans Bold"/>
                        <a:ea typeface="DM Sans Bold"/>
                        <a:cs typeface="DM Sans Bold"/>
                        <a:sym typeface="DM Sans Bold"/>
                      </a:endParaRPr>
                    </a:p>
                    <a:p>
                      <a:pPr algn="ctr">
                        <a:lnSpc>
                          <a:spcPts val="5599"/>
                        </a:lnSpc>
                      </a:pPr>
                      <a:endParaRPr lang="en-US" sz="3999" b="1" dirty="0">
                        <a:solidFill>
                          <a:srgbClr val="000000"/>
                        </a:solidFill>
                        <a:latin typeface="DM Sans Bold"/>
                        <a:ea typeface="DM Sans Bold"/>
                        <a:cs typeface="DM Sans Bold"/>
                        <a:sym typeface="DM Sans Bold"/>
                      </a:endParaRPr>
                    </a:p>
                  </a:txBody>
                  <a:tcPr marL="47774" marR="47774" marT="47774" marB="47774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endParaRPr lang="en-US" sz="1100" dirty="0"/>
                    </a:p>
                    <a:p>
                      <a:pPr algn="ctr">
                        <a:lnSpc>
                          <a:spcPts val="5599"/>
                        </a:lnSpc>
                      </a:pPr>
                      <a:endParaRPr lang="en-US" sz="1100" dirty="0"/>
                    </a:p>
                    <a:p>
                      <a:pPr algn="ctr">
                        <a:lnSpc>
                          <a:spcPts val="5599"/>
                        </a:lnSpc>
                      </a:pPr>
                      <a:r>
                        <a:rPr lang="en-US" sz="3999" b="1" dirty="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   Entities</a:t>
                      </a:r>
                    </a:p>
                    <a:p>
                      <a:pPr algn="ctr">
                        <a:lnSpc>
                          <a:spcPts val="5599"/>
                        </a:lnSpc>
                      </a:pPr>
                      <a:endParaRPr lang="en-US" sz="3999" b="1" dirty="0">
                        <a:solidFill>
                          <a:srgbClr val="000000"/>
                        </a:solidFill>
                        <a:latin typeface="DM Sans Bold"/>
                        <a:ea typeface="DM Sans Bold"/>
                        <a:cs typeface="DM Sans Bold"/>
                        <a:sym typeface="DM Sans Bold"/>
                      </a:endParaRPr>
                    </a:p>
                    <a:p>
                      <a:pPr algn="ctr">
                        <a:lnSpc>
                          <a:spcPts val="5599"/>
                        </a:lnSpc>
                      </a:pPr>
                      <a:r>
                        <a:rPr lang="en-US" sz="3999" b="1" dirty="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 Repositories</a:t>
                      </a:r>
                    </a:p>
                  </a:txBody>
                  <a:tcPr marL="47774" marR="47774" marT="47774" marB="47774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Freeform 24"/>
          <p:cNvSpPr/>
          <p:nvPr/>
        </p:nvSpPr>
        <p:spPr>
          <a:xfrm>
            <a:off x="15215022" y="4370399"/>
            <a:ext cx="2492524" cy="2499189"/>
          </a:xfrm>
          <a:custGeom>
            <a:avLst/>
            <a:gdLst/>
            <a:ahLst/>
            <a:cxnLst/>
            <a:rect l="l" t="t" r="r" b="b"/>
            <a:pathLst>
              <a:path w="2492524" h="2499189">
                <a:moveTo>
                  <a:pt x="0" y="0"/>
                </a:moveTo>
                <a:lnTo>
                  <a:pt x="2492524" y="0"/>
                </a:lnTo>
                <a:lnTo>
                  <a:pt x="2492524" y="2499189"/>
                </a:lnTo>
                <a:lnTo>
                  <a:pt x="0" y="2499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68481" y="4471603"/>
            <a:ext cx="3146219" cy="2030190"/>
          </a:xfrm>
          <a:custGeom>
            <a:avLst/>
            <a:gdLst/>
            <a:ahLst/>
            <a:cxnLst/>
            <a:rect l="l" t="t" r="r" b="b"/>
            <a:pathLst>
              <a:path w="3146219" h="2030190">
                <a:moveTo>
                  <a:pt x="0" y="0"/>
                </a:moveTo>
                <a:lnTo>
                  <a:pt x="3146219" y="0"/>
                </a:lnTo>
                <a:lnTo>
                  <a:pt x="3146219" y="2030190"/>
                </a:lnTo>
                <a:lnTo>
                  <a:pt x="0" y="20301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87152" y="5191423"/>
            <a:ext cx="290887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Browser</a:t>
            </a:r>
          </a:p>
        </p:txBody>
      </p:sp>
      <p:sp>
        <p:nvSpPr>
          <p:cNvPr id="27" name="AutoShape 27"/>
          <p:cNvSpPr/>
          <p:nvPr/>
        </p:nvSpPr>
        <p:spPr>
          <a:xfrm flipV="1">
            <a:off x="10472737" y="4006243"/>
            <a:ext cx="13174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8" name="AutoShape 28"/>
          <p:cNvSpPr/>
          <p:nvPr/>
        </p:nvSpPr>
        <p:spPr>
          <a:xfrm flipH="1">
            <a:off x="6920561" y="5920661"/>
            <a:ext cx="13174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9" name="AutoShape 29"/>
          <p:cNvSpPr/>
          <p:nvPr/>
        </p:nvSpPr>
        <p:spPr>
          <a:xfrm>
            <a:off x="6920561" y="5162550"/>
            <a:ext cx="13174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0" name="AutoShape 30"/>
          <p:cNvSpPr/>
          <p:nvPr/>
        </p:nvSpPr>
        <p:spPr>
          <a:xfrm flipH="1">
            <a:off x="10472737" y="7041735"/>
            <a:ext cx="13174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1" name="TextBox 31"/>
          <p:cNvSpPr txBox="1"/>
          <p:nvPr/>
        </p:nvSpPr>
        <p:spPr>
          <a:xfrm>
            <a:off x="7210372" y="4657725"/>
            <a:ext cx="690139" cy="4478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DTO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10372" y="5415836"/>
            <a:ext cx="690137" cy="4478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DTO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584275" y="3501418"/>
            <a:ext cx="897731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584275" y="6444643"/>
            <a:ext cx="897731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Entity</a:t>
            </a:r>
          </a:p>
        </p:txBody>
      </p:sp>
      <p:sp>
        <p:nvSpPr>
          <p:cNvPr id="35" name="AutoShape 35"/>
          <p:cNvSpPr/>
          <p:nvPr/>
        </p:nvSpPr>
        <p:spPr>
          <a:xfrm flipH="1">
            <a:off x="5927216" y="4471603"/>
            <a:ext cx="0" cy="20301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6" name="TextBox 36"/>
          <p:cNvSpPr txBox="1"/>
          <p:nvPr/>
        </p:nvSpPr>
        <p:spPr>
          <a:xfrm>
            <a:off x="4440899" y="4962339"/>
            <a:ext cx="1643274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View Model</a:t>
            </a:r>
          </a:p>
        </p:txBody>
      </p:sp>
      <p:sp>
        <p:nvSpPr>
          <p:cNvPr id="37" name="AutoShape 37"/>
          <p:cNvSpPr/>
          <p:nvPr/>
        </p:nvSpPr>
        <p:spPr>
          <a:xfrm>
            <a:off x="1741590" y="6501793"/>
            <a:ext cx="3236869" cy="9331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8" name="AutoShape 38"/>
          <p:cNvSpPr/>
          <p:nvPr/>
        </p:nvSpPr>
        <p:spPr>
          <a:xfrm>
            <a:off x="14115270" y="4471603"/>
            <a:ext cx="2653897" cy="2432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9" name="AutoShape 39"/>
          <p:cNvSpPr/>
          <p:nvPr/>
        </p:nvSpPr>
        <p:spPr>
          <a:xfrm flipH="1">
            <a:off x="14115270" y="6869588"/>
            <a:ext cx="2653897" cy="3362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15900" y="9505950"/>
            <a:ext cx="4114800" cy="576263"/>
            <a:chOff x="0" y="0"/>
            <a:chExt cx="5486400" cy="7683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09774" y="1874999"/>
            <a:ext cx="15349526" cy="2784608"/>
            <a:chOff x="0" y="0"/>
            <a:chExt cx="20466035" cy="371281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466034" cy="3712810"/>
            </a:xfrm>
            <a:custGeom>
              <a:avLst/>
              <a:gdLst/>
              <a:ahLst/>
              <a:cxnLst/>
              <a:rect l="l" t="t" r="r" b="b"/>
              <a:pathLst>
                <a:path w="20466034" h="3712810">
                  <a:moveTo>
                    <a:pt x="0" y="0"/>
                  </a:moveTo>
                  <a:lnTo>
                    <a:pt x="20466034" y="0"/>
                  </a:lnTo>
                  <a:lnTo>
                    <a:pt x="20466034" y="3712810"/>
                  </a:lnTo>
                  <a:lnTo>
                    <a:pt x="0" y="37128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20466035" cy="378901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04"/>
                </a:lnSpc>
              </a:pPr>
              <a:r>
                <a:rPr lang="en-US" sz="3507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</a:t>
              </a:r>
              <a:r>
                <a:rPr lang="en-US" sz="3507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 of Work Pattern</a:t>
              </a:r>
            </a:p>
            <a:p>
              <a:pPr marL="604519" lvl="1" indent="-302260" algn="l">
                <a:lnSpc>
                  <a:spcPts val="3357"/>
                </a:lnSpc>
                <a:buFont typeface="Arial"/>
                <a:buChar char="•"/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Description: Groups related changes into a single transaction to ensure consistency.</a:t>
              </a:r>
            </a:p>
            <a:p>
              <a:pPr marL="604519" lvl="1" indent="-302260" algn="l">
                <a:lnSpc>
                  <a:spcPts val="3357"/>
                </a:lnSpc>
                <a:buFont typeface="Arial"/>
                <a:buChar char="•"/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Implementation: The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UnitOfWork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coordinating multiple repository operations in a single save.</a:t>
              </a:r>
            </a:p>
            <a:p>
              <a:pPr marL="604519" lvl="1" indent="-302260" algn="l">
                <a:lnSpc>
                  <a:spcPts val="3357"/>
                </a:lnSpc>
                <a:buFont typeface="Arial"/>
                <a:buChar char="•"/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Purpose: Prevents data inconsistency and handles commit/rollback operations across multiple changes.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569910" y="605032"/>
            <a:ext cx="11148181" cy="904134"/>
            <a:chOff x="0" y="0"/>
            <a:chExt cx="14864241" cy="120551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64242" cy="1205512"/>
            </a:xfrm>
            <a:custGeom>
              <a:avLst/>
              <a:gdLst/>
              <a:ahLst/>
              <a:cxnLst/>
              <a:rect l="l" t="t" r="r" b="b"/>
              <a:pathLst>
                <a:path w="14864242" h="1205512">
                  <a:moveTo>
                    <a:pt x="0" y="0"/>
                  </a:moveTo>
                  <a:lnTo>
                    <a:pt x="14864242" y="0"/>
                  </a:lnTo>
                  <a:lnTo>
                    <a:pt x="14864242" y="1205512"/>
                  </a:lnTo>
                  <a:lnTo>
                    <a:pt x="0" y="12055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14864241" cy="12912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6448"/>
                </a:lnSpc>
              </a:pPr>
              <a:r>
                <a:rPr lang="en-US" sz="4605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Design Patterns Used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909774" y="4271420"/>
            <a:ext cx="15349526" cy="2784608"/>
            <a:chOff x="0" y="0"/>
            <a:chExt cx="20466035" cy="371281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466034" cy="3712811"/>
            </a:xfrm>
            <a:custGeom>
              <a:avLst/>
              <a:gdLst/>
              <a:ahLst/>
              <a:cxnLst/>
              <a:rect l="l" t="t" r="r" b="b"/>
              <a:pathLst>
                <a:path w="20466034" h="3712811">
                  <a:moveTo>
                    <a:pt x="0" y="0"/>
                  </a:moveTo>
                  <a:lnTo>
                    <a:pt x="20466034" y="0"/>
                  </a:lnTo>
                  <a:lnTo>
                    <a:pt x="20466034" y="3712811"/>
                  </a:lnTo>
                  <a:lnTo>
                    <a:pt x="0" y="37128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20466035" cy="37890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04"/>
                </a:lnSpc>
              </a:pPr>
              <a:r>
                <a:rPr lang="en-US" sz="3507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</a:t>
              </a:r>
              <a:r>
                <a:rPr lang="en-US" sz="3507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Repository Pattern</a:t>
              </a:r>
            </a:p>
            <a:p>
              <a:pPr marL="604519" lvl="1" indent="-302260" algn="l">
                <a:lnSpc>
                  <a:spcPts val="3357"/>
                </a:lnSpc>
                <a:buFont typeface="Arial"/>
                <a:buChar char="•"/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Description: Abstracts data access logic from the business logic.</a:t>
              </a:r>
            </a:p>
            <a:p>
              <a:pPr marL="604519" lvl="1" indent="-302260" algn="l">
                <a:lnSpc>
                  <a:spcPts val="3357"/>
                </a:lnSpc>
                <a:buFont typeface="Arial"/>
                <a:buChar char="•"/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Implementation: Uses generic and specific repositories (e.g.,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ProductRepository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CategoryRepository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) to manage CRUD operations.</a:t>
              </a:r>
            </a:p>
            <a:p>
              <a:pPr marL="604519" lvl="1" indent="-302260" algn="l">
                <a:lnSpc>
                  <a:spcPts val="3357"/>
                </a:lnSpc>
                <a:buFont typeface="Arial"/>
                <a:buChar char="•"/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Purpose: Provides a clean API to access the database and promotes reusable, testable code.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909774" y="6878642"/>
            <a:ext cx="14551510" cy="3037062"/>
            <a:chOff x="0" y="0"/>
            <a:chExt cx="20466035" cy="427148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466034" cy="4271489"/>
            </a:xfrm>
            <a:custGeom>
              <a:avLst/>
              <a:gdLst/>
              <a:ahLst/>
              <a:cxnLst/>
              <a:rect l="l" t="t" r="r" b="b"/>
              <a:pathLst>
                <a:path w="20466034" h="4271489">
                  <a:moveTo>
                    <a:pt x="0" y="0"/>
                  </a:moveTo>
                  <a:lnTo>
                    <a:pt x="20466034" y="0"/>
                  </a:lnTo>
                  <a:lnTo>
                    <a:pt x="20466034" y="4271489"/>
                  </a:lnTo>
                  <a:lnTo>
                    <a:pt x="0" y="42714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76200"/>
              <a:ext cx="20466035" cy="43476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04"/>
                </a:lnSpc>
              </a:pPr>
              <a:r>
                <a:rPr lang="en-US" sz="350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</a:t>
              </a:r>
              <a:r>
                <a:rPr lang="en-US" sz="3507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Dependency Inversion</a:t>
              </a:r>
            </a:p>
            <a:p>
              <a:pPr marL="604519" lvl="1" indent="-302260" algn="l">
                <a:lnSpc>
                  <a:spcPts val="3357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Description: Injects services (like repositories or business logic) into controllers.</a:t>
              </a:r>
            </a:p>
            <a:p>
              <a:pPr marL="604519" lvl="1" indent="-302260" algn="l">
                <a:lnSpc>
                  <a:spcPts val="3357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Implementation: Built-in ASP.NET Core DI container is used.</a:t>
              </a:r>
            </a:p>
            <a:p>
              <a:pPr marL="604519" lvl="1" indent="-302260" algn="l">
                <a:lnSpc>
                  <a:spcPts val="3357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Purpose: Promotes loose coupling, testability, and flexibility in managing dependencies.</a:t>
              </a:r>
            </a:p>
            <a:p>
              <a:pPr algn="l">
                <a:lnSpc>
                  <a:spcPts val="3359"/>
                </a:lnSpc>
              </a:pPr>
              <a:endPara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40B15328-0353-B7B3-FA9E-3DF15A7C29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9412" y="8834438"/>
            <a:ext cx="1247775" cy="1247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D1189-2EBA-C1D1-11C4-110B66E9B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F2B041C-652F-DEE7-D2BB-67F222EC9247}"/>
              </a:ext>
            </a:extLst>
          </p:cNvPr>
          <p:cNvGrpSpPr/>
          <p:nvPr/>
        </p:nvGrpSpPr>
        <p:grpSpPr>
          <a:xfrm>
            <a:off x="0" y="-3810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90B83C8-ED99-680F-1E28-FFB8973079DF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F17CB78-7B5B-9086-B223-0A58C56F90CA}"/>
              </a:ext>
            </a:extLst>
          </p:cNvPr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37439EE-9618-ADFA-9273-5257C59DA529}"/>
                </a:ext>
              </a:extLst>
            </p:cNvPr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F77969D-49A3-DCCC-BCF8-888ECE9DBA5B}"/>
              </a:ext>
            </a:extLst>
          </p:cNvPr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5FB8D3A-3B6E-DD0B-46F9-3D868243B10E}"/>
                </a:ext>
              </a:extLst>
            </p:cNvPr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A60D42A-1F64-7363-D9B8-BAB64031CDAA}"/>
              </a:ext>
            </a:extLst>
          </p:cNvPr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A6B6C27-9BCB-244D-69C9-C584F327103A}"/>
                </a:ext>
              </a:extLst>
            </p:cNvPr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09E989C-B516-633A-0103-AB81DF3B53E1}"/>
              </a:ext>
            </a:extLst>
          </p:cNvPr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E507515-5782-C1D2-E910-FAFC968B7918}"/>
                </a:ext>
              </a:extLst>
            </p:cNvPr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218841F-77EE-24DF-1B55-CCD0945F81A4}"/>
              </a:ext>
            </a:extLst>
          </p:cNvPr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3DC5B77D-D3D6-4761-EF15-9A40AC388C82}"/>
                </a:ext>
              </a:extLst>
            </p:cNvPr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86052219-2584-7BE3-BB34-2EE862D5C57F}"/>
                </a:ext>
              </a:extLst>
            </p:cNvPr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6CBEB00-DC1E-D88C-FF03-5224CE76365F}"/>
              </a:ext>
            </a:extLst>
          </p:cNvPr>
          <p:cNvGrpSpPr/>
          <p:nvPr/>
        </p:nvGrpSpPr>
        <p:grpSpPr>
          <a:xfrm>
            <a:off x="12915900" y="9505950"/>
            <a:ext cx="4114800" cy="576263"/>
            <a:chOff x="0" y="0"/>
            <a:chExt cx="5486400" cy="768351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EBB5350D-DBA5-D49B-B3C0-2E78D37CB5E5}"/>
                </a:ext>
              </a:extLst>
            </p:cNvPr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5F561AEC-A060-E2F7-63D7-53E6000DCB27}"/>
                </a:ext>
              </a:extLst>
            </p:cNvPr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B1E38A60-91E0-30F5-1B86-F0DA90AB424A}"/>
              </a:ext>
            </a:extLst>
          </p:cNvPr>
          <p:cNvGrpSpPr/>
          <p:nvPr/>
        </p:nvGrpSpPr>
        <p:grpSpPr>
          <a:xfrm>
            <a:off x="3569910" y="605032"/>
            <a:ext cx="11148181" cy="904134"/>
            <a:chOff x="0" y="0"/>
            <a:chExt cx="14864241" cy="1205512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82761526-E96B-B3CC-F0AD-035D5787818F}"/>
                </a:ext>
              </a:extLst>
            </p:cNvPr>
            <p:cNvSpPr/>
            <p:nvPr/>
          </p:nvSpPr>
          <p:spPr>
            <a:xfrm>
              <a:off x="0" y="0"/>
              <a:ext cx="14864242" cy="1205512"/>
            </a:xfrm>
            <a:custGeom>
              <a:avLst/>
              <a:gdLst/>
              <a:ahLst/>
              <a:cxnLst/>
              <a:rect l="l" t="t" r="r" b="b"/>
              <a:pathLst>
                <a:path w="14864242" h="1205512">
                  <a:moveTo>
                    <a:pt x="0" y="0"/>
                  </a:moveTo>
                  <a:lnTo>
                    <a:pt x="14864242" y="0"/>
                  </a:lnTo>
                  <a:lnTo>
                    <a:pt x="14864242" y="1205512"/>
                  </a:lnTo>
                  <a:lnTo>
                    <a:pt x="0" y="12055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9E8054E-49EE-97FE-5B63-787275B8B7E4}"/>
                </a:ext>
              </a:extLst>
            </p:cNvPr>
            <p:cNvSpPr txBox="1"/>
            <p:nvPr/>
          </p:nvSpPr>
          <p:spPr>
            <a:xfrm>
              <a:off x="0" y="-85725"/>
              <a:ext cx="14864241" cy="12912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6448"/>
                </a:lnSpc>
              </a:pPr>
              <a:r>
                <a:rPr lang="en-US" sz="4605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Authentication &amp; Authorization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F6194189-1CB6-8893-8841-7F3379229203}"/>
              </a:ext>
            </a:extLst>
          </p:cNvPr>
          <p:cNvGrpSpPr/>
          <p:nvPr/>
        </p:nvGrpSpPr>
        <p:grpSpPr>
          <a:xfrm>
            <a:off x="1742768" y="1509167"/>
            <a:ext cx="14792632" cy="8282513"/>
            <a:chOff x="-13828" y="-1977838"/>
            <a:chExt cx="20805162" cy="6249327"/>
          </a:xfrm>
        </p:grpSpPr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2B3041A-B592-16A7-D9BE-8A9021C03281}"/>
                </a:ext>
              </a:extLst>
            </p:cNvPr>
            <p:cNvSpPr txBox="1"/>
            <p:nvPr/>
          </p:nvSpPr>
          <p:spPr>
            <a:xfrm>
              <a:off x="0" y="-76200"/>
              <a:ext cx="20466035" cy="43476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0DEA178-63DE-4247-A485-DB761E366192}"/>
                </a:ext>
              </a:extLst>
            </p:cNvPr>
            <p:cNvSpPr/>
            <p:nvPr/>
          </p:nvSpPr>
          <p:spPr>
            <a:xfrm>
              <a:off x="-13828" y="-1977838"/>
              <a:ext cx="20805162" cy="6012143"/>
            </a:xfrm>
            <a:custGeom>
              <a:avLst/>
              <a:gdLst/>
              <a:ahLst/>
              <a:cxnLst/>
              <a:rect l="l" t="t" r="r" b="b"/>
              <a:pathLst>
                <a:path w="20466034" h="4271489">
                  <a:moveTo>
                    <a:pt x="0" y="0"/>
                  </a:moveTo>
                  <a:lnTo>
                    <a:pt x="20466034" y="0"/>
                  </a:lnTo>
                  <a:lnTo>
                    <a:pt x="20466034" y="4271489"/>
                  </a:lnTo>
                  <a:lnTo>
                    <a:pt x="0" y="42714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r>
                <a:rPr lang="en-US" sz="3500" dirty="0"/>
                <a:t>The platform uses </a:t>
              </a:r>
              <a:r>
                <a:rPr lang="en-US" sz="3500" b="1" dirty="0"/>
                <a:t>ASP.NET Identity</a:t>
              </a:r>
              <a:r>
                <a:rPr lang="en-US" sz="3500" dirty="0"/>
                <a:t> to implement a secure, role-based authentication system.</a:t>
              </a:r>
            </a:p>
            <a:p>
              <a:pPr>
                <a:buNone/>
              </a:pPr>
              <a:r>
                <a:rPr lang="en-US" sz="3500" b="1" dirty="0"/>
                <a:t>Features</a:t>
              </a:r>
              <a:r>
                <a:rPr lang="en-US" b="1" dirty="0"/>
                <a:t>:</a:t>
              </a:r>
            </a:p>
            <a:p>
              <a:pPr lvl="1">
                <a:buFont typeface="+mj-lt"/>
                <a:buAutoNum type="arabicPeriod"/>
              </a:pPr>
              <a:r>
                <a:rPr lang="en-US" sz="3500" b="1" dirty="0"/>
                <a:t>User Registration and Login</a:t>
              </a:r>
              <a:endParaRPr lang="en-US" sz="3500" dirty="0"/>
            </a:p>
            <a:p>
              <a:pPr marL="1200150" lvl="2" indent="-285750">
                <a:buFont typeface="+mj-lt"/>
                <a:buAutoNum type="arabicPeriod"/>
              </a:pPr>
              <a:r>
                <a:rPr lang="en-US" sz="2800" dirty="0"/>
                <a:t>New users can register using a form.</a:t>
              </a:r>
            </a:p>
            <a:p>
              <a:pPr marL="1200150" lvl="2" indent="-285750">
                <a:buFont typeface="+mj-lt"/>
                <a:buAutoNum type="arabicPeriod"/>
              </a:pPr>
              <a:r>
                <a:rPr lang="en-US" sz="2800" dirty="0"/>
                <a:t>Users can securely log in using their email and password .</a:t>
              </a:r>
            </a:p>
            <a:p>
              <a:pPr marL="1200150" lvl="2" indent="-285750">
                <a:buFont typeface="+mj-lt"/>
                <a:buAutoNum type="arabicPeriod"/>
              </a:pPr>
              <a:r>
                <a:rPr lang="en-US" sz="2800" dirty="0"/>
                <a:t>Passwords are hashed and stored securely via ASP.NET Identity.</a:t>
              </a:r>
            </a:p>
            <a:p>
              <a:pPr lvl="1">
                <a:buFont typeface="+mj-lt"/>
                <a:buAutoNum type="arabicPeriod"/>
              </a:pPr>
              <a:r>
                <a:rPr lang="en-US" sz="3500" b="1" dirty="0"/>
                <a:t>Role-Based Access</a:t>
              </a:r>
              <a:endParaRPr lang="en-US" sz="3500" dirty="0"/>
            </a:p>
            <a:p>
              <a:pPr marL="1200150" lvl="2" indent="-285750">
                <a:buFont typeface="+mj-lt"/>
                <a:buAutoNum type="arabicPeriod"/>
              </a:pPr>
              <a:r>
                <a:rPr lang="en-US" sz="2800" dirty="0"/>
                <a:t>Three main roles are defined:</a:t>
              </a:r>
            </a:p>
            <a:p>
              <a:pPr marL="1600200" lvl="3" indent="-228600">
                <a:buFont typeface="+mj-lt"/>
                <a:buAutoNum type="arabicPeriod"/>
              </a:pPr>
              <a:r>
                <a:rPr lang="en-US" sz="2800" b="1" dirty="0"/>
                <a:t>Owner</a:t>
              </a:r>
            </a:p>
            <a:p>
              <a:pPr marL="1600200" lvl="3" indent="-228600">
                <a:buFont typeface="+mj-lt"/>
                <a:buAutoNum type="arabicPeriod"/>
              </a:pPr>
              <a:r>
                <a:rPr lang="en-US" sz="2800" b="1" dirty="0"/>
                <a:t>Organizer</a:t>
              </a:r>
            </a:p>
            <a:p>
              <a:pPr marL="1600200" lvl="3" indent="-228600">
                <a:buFont typeface="+mj-lt"/>
                <a:buAutoNum type="arabicPeriod"/>
              </a:pPr>
              <a:r>
                <a:rPr lang="en-US" sz="2800" b="1" dirty="0"/>
                <a:t>Admin</a:t>
              </a:r>
            </a:p>
            <a:p>
              <a:pPr marL="1600200" lvl="3" indent="-228600">
                <a:buFont typeface="+mj-lt"/>
                <a:buAutoNum type="arabicPeriod"/>
              </a:pPr>
              <a:endParaRPr lang="en-US" sz="2800" dirty="0"/>
            </a:p>
            <a:p>
              <a:pPr marL="1200150" lvl="2" indent="-285750">
                <a:buFont typeface="+mj-lt"/>
                <a:buAutoNum type="arabicPeriod"/>
              </a:pPr>
              <a:r>
                <a:rPr lang="en-US" sz="2800" dirty="0"/>
                <a:t>After logging in, access to different parts of the site is controlled based on the user’s role.</a:t>
              </a:r>
            </a:p>
            <a:p>
              <a:pPr lvl="1">
                <a:buFont typeface="+mj-lt"/>
                <a:buAutoNum type="arabicPeriod"/>
              </a:pPr>
              <a:r>
                <a:rPr lang="en-US" sz="3500" b="1" dirty="0"/>
                <a:t>Authentication Storage</a:t>
              </a:r>
              <a:endParaRPr lang="en-US" sz="3500" dirty="0"/>
            </a:p>
            <a:p>
              <a:pPr marL="1200150" lvl="2" indent="-285750">
                <a:buFont typeface="+mj-lt"/>
                <a:buAutoNum type="arabicPeriod"/>
              </a:pPr>
              <a:r>
                <a:rPr lang="en-US" sz="2800" dirty="0"/>
                <a:t>Authentication state is managed using </a:t>
              </a:r>
              <a:r>
                <a:rPr lang="en-US" sz="2800" b="1" dirty="0"/>
                <a:t>cookies</a:t>
              </a:r>
              <a:r>
                <a:rPr lang="en-US" sz="2800" dirty="0"/>
                <a:t>, managed by ASP.NET Identity.</a:t>
              </a:r>
            </a:p>
            <a:p>
              <a:pPr marL="1200150" lvl="2" indent="-285750">
                <a:buFont typeface="+mj-lt"/>
                <a:buAutoNum type="arabicPeriod"/>
              </a:pPr>
              <a:r>
                <a:rPr lang="en-US" sz="2800" dirty="0"/>
                <a:t>The login session persists across the platform until the user logs out or the session expires.</a:t>
              </a:r>
            </a:p>
            <a:p>
              <a:endParaRPr lang="en-US" sz="35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17828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15900" y="9505950"/>
            <a:ext cx="4114800" cy="576263"/>
            <a:chOff x="0" y="0"/>
            <a:chExt cx="5486400" cy="7683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09774" y="1874999"/>
            <a:ext cx="15349526" cy="1676323"/>
            <a:chOff x="0" y="0"/>
            <a:chExt cx="20466035" cy="22350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466034" cy="2235097"/>
            </a:xfrm>
            <a:custGeom>
              <a:avLst/>
              <a:gdLst/>
              <a:ahLst/>
              <a:cxnLst/>
              <a:rect l="l" t="t" r="r" b="b"/>
              <a:pathLst>
                <a:path w="20466034" h="2235097">
                  <a:moveTo>
                    <a:pt x="0" y="0"/>
                  </a:moveTo>
                  <a:lnTo>
                    <a:pt x="20466034" y="0"/>
                  </a:lnTo>
                  <a:lnTo>
                    <a:pt x="20466034" y="2235097"/>
                  </a:lnTo>
                  <a:lnTo>
                    <a:pt x="0" y="22350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20466035" cy="23112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08"/>
                </a:lnSpc>
              </a:pPr>
              <a:r>
                <a:rPr lang="en-US" sz="3507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 Programming Languages Used:</a:t>
              </a:r>
            </a:p>
            <a:p>
              <a:pPr marL="801745" lvl="2" indent="-267248" algn="l">
                <a:lnSpc>
                  <a:spcPts val="4208"/>
                </a:lnSpc>
                <a:buFont typeface="Arial"/>
                <a:buChar char="⚬"/>
              </a:pPr>
              <a:r>
                <a:rPr lang="en-US" sz="350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C# for backend logic in Razor Pages.</a:t>
              </a:r>
            </a:p>
            <a:p>
              <a:pPr marL="801745" lvl="2" indent="-267248" algn="l">
                <a:lnSpc>
                  <a:spcPts val="4208"/>
                </a:lnSpc>
                <a:buFont typeface="Arial"/>
                <a:buChar char="⚬"/>
              </a:pPr>
              <a:r>
                <a:rPr lang="en-US" sz="350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 for frontend interactivity.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569910" y="605032"/>
            <a:ext cx="11148181" cy="784167"/>
            <a:chOff x="0" y="0"/>
            <a:chExt cx="14864241" cy="10455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64242" cy="1045556"/>
            </a:xfrm>
            <a:custGeom>
              <a:avLst/>
              <a:gdLst/>
              <a:ahLst/>
              <a:cxnLst/>
              <a:rect l="l" t="t" r="r" b="b"/>
              <a:pathLst>
                <a:path w="14864242" h="1045556">
                  <a:moveTo>
                    <a:pt x="0" y="0"/>
                  </a:moveTo>
                  <a:lnTo>
                    <a:pt x="14864242" y="0"/>
                  </a:lnTo>
                  <a:lnTo>
                    <a:pt x="14864242" y="1045556"/>
                  </a:lnTo>
                  <a:lnTo>
                    <a:pt x="0" y="10455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14864241" cy="113128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6448"/>
                </a:lnSpc>
              </a:pPr>
              <a:r>
                <a:rPr lang="en-US" sz="4605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Programming Languages + Frameworks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909774" y="3970422"/>
            <a:ext cx="15349526" cy="2743072"/>
            <a:chOff x="0" y="0"/>
            <a:chExt cx="20466035" cy="365742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466034" cy="3657429"/>
            </a:xfrm>
            <a:custGeom>
              <a:avLst/>
              <a:gdLst/>
              <a:ahLst/>
              <a:cxnLst/>
              <a:rect l="l" t="t" r="r" b="b"/>
              <a:pathLst>
                <a:path w="20466034" h="3657429">
                  <a:moveTo>
                    <a:pt x="0" y="0"/>
                  </a:moveTo>
                  <a:lnTo>
                    <a:pt x="20466034" y="0"/>
                  </a:lnTo>
                  <a:lnTo>
                    <a:pt x="20466034" y="3657429"/>
                  </a:lnTo>
                  <a:lnTo>
                    <a:pt x="0" y="36574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20466035" cy="373362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08"/>
                </a:lnSpc>
              </a:pPr>
              <a:r>
                <a:rPr lang="en-US" sz="3507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Highlight Frameworks/Tools Used</a:t>
              </a:r>
            </a:p>
            <a:p>
              <a:pPr marL="801745" lvl="2" indent="-267248" algn="l">
                <a:lnSpc>
                  <a:spcPts val="4208"/>
                </a:lnSpc>
                <a:buFont typeface="Arial"/>
                <a:buChar char="⚬"/>
              </a:pPr>
              <a:r>
                <a:rPr lang="en-US" sz="350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ASP.NET Core Razor Pages for page-based web development.</a:t>
              </a:r>
            </a:p>
            <a:p>
              <a:pPr marL="801745" lvl="2" indent="-267248" algn="l">
                <a:lnSpc>
                  <a:spcPts val="4208"/>
                </a:lnSpc>
                <a:buFont typeface="Arial"/>
                <a:buChar char="⚬"/>
              </a:pPr>
              <a:r>
                <a:rPr lang="en-US" sz="350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Entity Framework Core for ORM and database access.</a:t>
              </a:r>
            </a:p>
            <a:p>
              <a:pPr marL="801745" lvl="2" indent="-267248" algn="l">
                <a:lnSpc>
                  <a:spcPts val="4208"/>
                </a:lnSpc>
                <a:buFont typeface="Arial"/>
                <a:buChar char="⚬"/>
              </a:pPr>
              <a:r>
                <a:rPr lang="en-US" sz="350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ASP.NET Identity for authentication and role management.</a:t>
              </a:r>
            </a:p>
            <a:p>
              <a:pPr marL="801745" lvl="2" indent="-267248" algn="l">
                <a:lnSpc>
                  <a:spcPts val="4208"/>
                </a:lnSpc>
                <a:buFont typeface="Arial"/>
                <a:buChar char="⚬"/>
              </a:pPr>
              <a:r>
                <a:rPr lang="en-US" sz="350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jQuery and DataTables for dynamic admin interfaces.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909774" y="7132594"/>
            <a:ext cx="15349526" cy="1676323"/>
            <a:chOff x="0" y="0"/>
            <a:chExt cx="20466035" cy="223509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466034" cy="2235097"/>
            </a:xfrm>
            <a:custGeom>
              <a:avLst/>
              <a:gdLst/>
              <a:ahLst/>
              <a:cxnLst/>
              <a:rect l="l" t="t" r="r" b="b"/>
              <a:pathLst>
                <a:path w="20466034" h="2235097">
                  <a:moveTo>
                    <a:pt x="0" y="0"/>
                  </a:moveTo>
                  <a:lnTo>
                    <a:pt x="20466034" y="0"/>
                  </a:lnTo>
                  <a:lnTo>
                    <a:pt x="20466034" y="2235097"/>
                  </a:lnTo>
                  <a:lnTo>
                    <a:pt x="0" y="22350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76200"/>
              <a:ext cx="20466035" cy="23112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08"/>
                </a:lnSpc>
              </a:pPr>
              <a:r>
                <a:rPr lang="en-US" sz="3507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Technologies:</a:t>
              </a:r>
            </a:p>
            <a:p>
              <a:pPr marL="801745" lvl="2" indent="-267248" algn="l">
                <a:lnSpc>
                  <a:spcPts val="4208"/>
                </a:lnSpc>
                <a:buFont typeface="Arial"/>
                <a:buChar char="⚬"/>
              </a:pPr>
              <a:r>
                <a:rPr lang="en-US" sz="350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Stripe API for payment integration.</a:t>
              </a:r>
            </a:p>
            <a:p>
              <a:pPr marL="801745" lvl="2" indent="-267248" algn="l">
                <a:lnSpc>
                  <a:spcPts val="4208"/>
                </a:lnSpc>
                <a:buFont typeface="Arial"/>
                <a:buChar char="⚬"/>
              </a:pPr>
              <a:r>
                <a:rPr lang="en-US" sz="350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Bootstrap for responsive UI design.</a:t>
              </a: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C63CB310-396C-7C32-BA2E-57DF7CDAD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9412" y="8866067"/>
            <a:ext cx="1247775" cy="12477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15900" y="9505950"/>
            <a:ext cx="4114800" cy="576263"/>
            <a:chOff x="0" y="0"/>
            <a:chExt cx="5486400" cy="7683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569910" y="605032"/>
            <a:ext cx="11148181" cy="1713759"/>
            <a:chOff x="0" y="0"/>
            <a:chExt cx="14864241" cy="22850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864242" cy="2285012"/>
            </a:xfrm>
            <a:custGeom>
              <a:avLst/>
              <a:gdLst/>
              <a:ahLst/>
              <a:cxnLst/>
              <a:rect l="l" t="t" r="r" b="b"/>
              <a:pathLst>
                <a:path w="14864242" h="2285012">
                  <a:moveTo>
                    <a:pt x="0" y="0"/>
                  </a:moveTo>
                  <a:lnTo>
                    <a:pt x="14864242" y="0"/>
                  </a:lnTo>
                  <a:lnTo>
                    <a:pt x="14864242" y="2285012"/>
                  </a:lnTo>
                  <a:lnTo>
                    <a:pt x="0" y="2285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4864241" cy="23707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6448"/>
                </a:lnSpc>
              </a:pPr>
              <a:r>
                <a:rPr lang="en-US" sz="4605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Functional Requirements</a:t>
              </a:r>
            </a:p>
            <a:p>
              <a:pPr algn="ctr">
                <a:lnSpc>
                  <a:spcPts val="6448"/>
                </a:lnSpc>
              </a:pPr>
              <a:endParaRPr lang="en-US" sz="460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69237" y="1714500"/>
            <a:ext cx="15561463" cy="7690983"/>
            <a:chOff x="-282582" y="-385675"/>
            <a:chExt cx="20748617" cy="10254645"/>
          </a:xfrm>
        </p:grpSpPr>
        <p:sp>
          <p:nvSpPr>
            <p:cNvPr id="24" name="Freeform 24"/>
            <p:cNvSpPr/>
            <p:nvPr/>
          </p:nvSpPr>
          <p:spPr>
            <a:xfrm>
              <a:off x="-282582" y="-188950"/>
              <a:ext cx="20466035" cy="10057920"/>
            </a:xfrm>
            <a:custGeom>
              <a:avLst/>
              <a:gdLst/>
              <a:ahLst/>
              <a:cxnLst/>
              <a:rect l="l" t="t" r="r" b="b"/>
              <a:pathLst>
                <a:path w="20466034" h="10057920">
                  <a:moveTo>
                    <a:pt x="0" y="0"/>
                  </a:moveTo>
                  <a:lnTo>
                    <a:pt x="20466034" y="0"/>
                  </a:lnTo>
                  <a:lnTo>
                    <a:pt x="20466034" y="10057920"/>
                  </a:lnTo>
                  <a:lnTo>
                    <a:pt x="0" y="10057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5675"/>
              <a:ext cx="20466035" cy="101341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04"/>
                </a:lnSpc>
              </a:pPr>
              <a:r>
                <a:rPr lang="en-US" sz="36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  <a:r>
                <a:rPr lang="ar-EG" sz="36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– </a:t>
              </a:r>
              <a:r>
                <a:rPr lang="en-US" sz="36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Venue Owner Features</a:t>
              </a:r>
            </a:p>
            <a:p>
              <a:pPr algn="l">
                <a:lnSpc>
                  <a:spcPts val="4204"/>
                </a:lnSpc>
              </a:pPr>
              <a:endParaRPr lang="en-US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2900" b="1" dirty="0"/>
                <a:t>Venue Management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Add new venue listings.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Edit venue details (name, type, location, capacity, amenities).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Upload and manage venue photos.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2900" b="1" dirty="0"/>
                <a:t>Booking Control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Receive booking requests from event organizers.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Accept or reject event booking requests.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Automatically prevent double booking.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2900" b="1" dirty="0"/>
                <a:t>Calendar (Read-Only Booked Dates)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View a calendar that displays all </a:t>
              </a:r>
              <a:r>
                <a:rPr lang="en-US" sz="2900" b="1" dirty="0"/>
                <a:t>booked dates and times only</a:t>
              </a:r>
              <a:r>
                <a:rPr lang="en-US" sz="2900" dirty="0"/>
                <a:t>.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Identify busy days and upcoming confirmed bookings.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No editing or adding availability—calendar is </a:t>
              </a:r>
              <a:r>
                <a:rPr lang="en-US" sz="2900" b="1" dirty="0"/>
                <a:t>display-only</a:t>
              </a:r>
              <a:r>
                <a:rPr lang="en-US" sz="2900" dirty="0"/>
                <a:t> based on approved requests.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2900" b="1" dirty="0"/>
                <a:t>Payment Handling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Receive rental payments directly.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View complete payment history for all bookings.</a:t>
              </a:r>
            </a:p>
            <a:p>
              <a:pPr marL="423120" lvl="1" indent="-211560" algn="l">
                <a:lnSpc>
                  <a:spcPts val="4208"/>
                </a:lnSpc>
              </a:pPr>
              <a:endParaRPr lang="en-US" sz="2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98C5BEC9-652F-E957-5B08-E7375904B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80096" y="8953500"/>
            <a:ext cx="1247775" cy="12477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15900" y="9505950"/>
            <a:ext cx="4114800" cy="576263"/>
            <a:chOff x="0" y="0"/>
            <a:chExt cx="5486400" cy="7683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569910" y="605032"/>
            <a:ext cx="11148181" cy="1713759"/>
            <a:chOff x="0" y="0"/>
            <a:chExt cx="14864241" cy="22850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864242" cy="2285012"/>
            </a:xfrm>
            <a:custGeom>
              <a:avLst/>
              <a:gdLst/>
              <a:ahLst/>
              <a:cxnLst/>
              <a:rect l="l" t="t" r="r" b="b"/>
              <a:pathLst>
                <a:path w="14864242" h="2285012">
                  <a:moveTo>
                    <a:pt x="0" y="0"/>
                  </a:moveTo>
                  <a:lnTo>
                    <a:pt x="14864242" y="0"/>
                  </a:lnTo>
                  <a:lnTo>
                    <a:pt x="14864242" y="2285012"/>
                  </a:lnTo>
                  <a:lnTo>
                    <a:pt x="0" y="2285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4864241" cy="23707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6448"/>
                </a:lnSpc>
              </a:pPr>
              <a:r>
                <a:rPr lang="en-US" sz="4605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Functional Requirements</a:t>
              </a:r>
            </a:p>
            <a:p>
              <a:pPr algn="ctr">
                <a:lnSpc>
                  <a:spcPts val="6448"/>
                </a:lnSpc>
              </a:pPr>
              <a:endParaRPr lang="en-US" sz="460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81174" y="1991085"/>
            <a:ext cx="15349526" cy="7543440"/>
            <a:chOff x="0" y="0"/>
            <a:chExt cx="20466035" cy="100579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466034" cy="10057920"/>
            </a:xfrm>
            <a:custGeom>
              <a:avLst/>
              <a:gdLst/>
              <a:ahLst/>
              <a:cxnLst/>
              <a:rect l="l" t="t" r="r" b="b"/>
              <a:pathLst>
                <a:path w="20466034" h="10057920">
                  <a:moveTo>
                    <a:pt x="0" y="0"/>
                  </a:moveTo>
                  <a:lnTo>
                    <a:pt x="20466034" y="0"/>
                  </a:lnTo>
                  <a:lnTo>
                    <a:pt x="20466034" y="10057920"/>
                  </a:lnTo>
                  <a:lnTo>
                    <a:pt x="0" y="10057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20466035" cy="101341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04"/>
                </a:lnSpc>
              </a:pPr>
              <a:r>
                <a:rPr lang="en-US" sz="3507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– Event </a:t>
              </a:r>
              <a:r>
                <a:rPr lang="en-US" sz="3507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Organizier</a:t>
              </a:r>
              <a:r>
                <a:rPr lang="en-US" sz="3507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Features</a:t>
              </a:r>
            </a:p>
            <a:p>
              <a:pPr algn="l">
                <a:lnSpc>
                  <a:spcPts val="4204"/>
                </a:lnSpc>
              </a:pPr>
              <a:endParaRPr lang="en-US" sz="3507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2900" b="1" dirty="0"/>
                <a:t>Venue Search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Browse and explore available venues.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Filter venues by price, capacity, location, and availability.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View venue photos, descriptions, and facilities.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2900" b="1" dirty="0"/>
                <a:t>Event Booking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Create event booking requests for a selected venue.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Enter full event details: name, date, time, and description.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Receive notifications when the venue owner accepts or rejects the booking.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2900" b="1" dirty="0"/>
                <a:t>Booking Management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View history of all submitted booking requests.</a:t>
              </a:r>
            </a:p>
            <a:p>
              <a:pPr marL="1371600" lvl="2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Track the approval status of each event request.</a:t>
              </a:r>
            </a:p>
            <a:p>
              <a:pPr algn="l">
                <a:lnSpc>
                  <a:spcPts val="3599"/>
                </a:lnSpc>
              </a:pPr>
              <a:endParaRPr lang="en-US" sz="3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marL="423120" lvl="1" indent="-211560" algn="l">
                <a:lnSpc>
                  <a:spcPts val="4208"/>
                </a:lnSpc>
              </a:pPr>
              <a:endParaRPr lang="en-US" sz="3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0AFF07CC-8B2E-8AFF-062C-5D19A0111E1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6000" y="8960505"/>
            <a:ext cx="1254685" cy="12546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B0BEE-C364-639E-8D6E-ED51766CB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B6033F1-3CCD-4B62-045B-9E2FCEFB80AA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9FD85CD-412A-36DC-3136-9E4CBACC844A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D89CF56-FA37-B8BC-FC6F-F84A3A969714}"/>
              </a:ext>
            </a:extLst>
          </p:cNvPr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96F8D8F-8838-B98F-4365-10ACEF8E6BEB}"/>
                </a:ext>
              </a:extLst>
            </p:cNvPr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3CE8001-16CF-2D2A-9BA9-38337939D2DE}"/>
              </a:ext>
            </a:extLst>
          </p:cNvPr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DB464EE-7D2C-0BAE-D651-4D0D30E839E6}"/>
                </a:ext>
              </a:extLst>
            </p:cNvPr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EECA8E7-E4CB-8529-5DBD-9D65D2474F14}"/>
              </a:ext>
            </a:extLst>
          </p:cNvPr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C290D61-5761-2858-EE76-2306FA13CC93}"/>
                </a:ext>
              </a:extLst>
            </p:cNvPr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FA000AE-D260-2CDF-A1F8-86F568C91B7D}"/>
              </a:ext>
            </a:extLst>
          </p:cNvPr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D5FF5CA-94D4-C00C-C4A4-AE795A106750}"/>
                </a:ext>
              </a:extLst>
            </p:cNvPr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AFC9D3A-EBBC-9C66-0218-0ABA4FFEF3BC}"/>
              </a:ext>
            </a:extLst>
          </p:cNvPr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1D5C1FA-67A4-1495-1D8E-DBE8992A2621}"/>
                </a:ext>
              </a:extLst>
            </p:cNvPr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887FBC0B-1D25-9FEF-7767-B87A53122456}"/>
                </a:ext>
              </a:extLst>
            </p:cNvPr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BA2842DD-2FB9-039E-7205-722C65B34B9C}"/>
              </a:ext>
            </a:extLst>
          </p:cNvPr>
          <p:cNvGrpSpPr/>
          <p:nvPr/>
        </p:nvGrpSpPr>
        <p:grpSpPr>
          <a:xfrm>
            <a:off x="12915900" y="9505950"/>
            <a:ext cx="4114800" cy="576263"/>
            <a:chOff x="0" y="0"/>
            <a:chExt cx="5486400" cy="768351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67730EC7-E230-8E26-F01C-1FE9FE96CFCE}"/>
                </a:ext>
              </a:extLst>
            </p:cNvPr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5D2AA241-8279-5A9D-C14E-CE438644AD31}"/>
                </a:ext>
              </a:extLst>
            </p:cNvPr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9E635E58-4C9D-6CA1-9F2D-92F1B0BED42D}"/>
              </a:ext>
            </a:extLst>
          </p:cNvPr>
          <p:cNvGrpSpPr/>
          <p:nvPr/>
        </p:nvGrpSpPr>
        <p:grpSpPr>
          <a:xfrm>
            <a:off x="3569910" y="605032"/>
            <a:ext cx="11148181" cy="1713759"/>
            <a:chOff x="0" y="0"/>
            <a:chExt cx="14864241" cy="2285012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023E8AC-EFC2-80D0-8854-6343727875A4}"/>
                </a:ext>
              </a:extLst>
            </p:cNvPr>
            <p:cNvSpPr/>
            <p:nvPr/>
          </p:nvSpPr>
          <p:spPr>
            <a:xfrm>
              <a:off x="0" y="0"/>
              <a:ext cx="14864242" cy="2285012"/>
            </a:xfrm>
            <a:custGeom>
              <a:avLst/>
              <a:gdLst/>
              <a:ahLst/>
              <a:cxnLst/>
              <a:rect l="l" t="t" r="r" b="b"/>
              <a:pathLst>
                <a:path w="14864242" h="2285012">
                  <a:moveTo>
                    <a:pt x="0" y="0"/>
                  </a:moveTo>
                  <a:lnTo>
                    <a:pt x="14864242" y="0"/>
                  </a:lnTo>
                  <a:lnTo>
                    <a:pt x="14864242" y="2285012"/>
                  </a:lnTo>
                  <a:lnTo>
                    <a:pt x="0" y="2285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F64BAA0-0CFA-4096-D9FE-39D673DB1EB4}"/>
                </a:ext>
              </a:extLst>
            </p:cNvPr>
            <p:cNvSpPr txBox="1"/>
            <p:nvPr/>
          </p:nvSpPr>
          <p:spPr>
            <a:xfrm>
              <a:off x="0" y="-85725"/>
              <a:ext cx="14864241" cy="23707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6448"/>
                </a:lnSpc>
              </a:pPr>
              <a:r>
                <a:rPr lang="en-US" sz="4605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Functional Requirements</a:t>
              </a:r>
            </a:p>
            <a:p>
              <a:pPr algn="ctr">
                <a:lnSpc>
                  <a:spcPts val="6448"/>
                </a:lnSpc>
              </a:pPr>
              <a:endParaRPr lang="en-US" sz="460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D66AE74E-8760-B90A-E3A3-F6FDC413DCAF}"/>
              </a:ext>
            </a:extLst>
          </p:cNvPr>
          <p:cNvGrpSpPr/>
          <p:nvPr/>
        </p:nvGrpSpPr>
        <p:grpSpPr>
          <a:xfrm>
            <a:off x="1264228" y="1733910"/>
            <a:ext cx="15766472" cy="7869305"/>
            <a:chOff x="-555928" y="-342900"/>
            <a:chExt cx="21021963" cy="10492407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6254A43-E345-D189-4D19-C7CFB80E3BD8}"/>
                </a:ext>
              </a:extLst>
            </p:cNvPr>
            <p:cNvSpPr/>
            <p:nvPr/>
          </p:nvSpPr>
          <p:spPr>
            <a:xfrm>
              <a:off x="-555928" y="91587"/>
              <a:ext cx="20466034" cy="10057920"/>
            </a:xfrm>
            <a:custGeom>
              <a:avLst/>
              <a:gdLst/>
              <a:ahLst/>
              <a:cxnLst/>
              <a:rect l="l" t="t" r="r" b="b"/>
              <a:pathLst>
                <a:path w="20466034" h="10057920">
                  <a:moveTo>
                    <a:pt x="0" y="0"/>
                  </a:moveTo>
                  <a:lnTo>
                    <a:pt x="20466034" y="0"/>
                  </a:lnTo>
                  <a:lnTo>
                    <a:pt x="20466034" y="10057920"/>
                  </a:lnTo>
                  <a:lnTo>
                    <a:pt x="0" y="10057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69BFEB6D-912F-F9C3-00E6-BA8B5BA836F5}"/>
                </a:ext>
              </a:extLst>
            </p:cNvPr>
            <p:cNvSpPr txBox="1"/>
            <p:nvPr/>
          </p:nvSpPr>
          <p:spPr>
            <a:xfrm>
              <a:off x="0" y="-342900"/>
              <a:ext cx="20466035" cy="101341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4204"/>
                </a:lnSpc>
              </a:pPr>
              <a:r>
                <a:rPr lang="en-US" sz="3507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– </a:t>
              </a:r>
              <a:r>
                <a:rPr lang="en-US" sz="3600" b="1" dirty="0"/>
                <a:t>Admin</a:t>
              </a:r>
              <a:r>
                <a:rPr lang="en-US" sz="3507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Features</a:t>
              </a:r>
            </a:p>
            <a:p>
              <a:pPr algn="l">
                <a:lnSpc>
                  <a:spcPts val="4204"/>
                </a:lnSpc>
              </a:pPr>
              <a:endParaRPr lang="en-US" sz="3507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900" b="1" dirty="0"/>
                <a:t>User Management</a:t>
              </a:r>
            </a:p>
            <a:p>
              <a:pPr marL="914400" lvl="1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View all users.</a:t>
              </a:r>
            </a:p>
            <a:p>
              <a:pPr marL="914400" lvl="1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Delete or deactivate user accounts.</a:t>
              </a:r>
            </a:p>
            <a:p>
              <a:pPr marL="914400" lvl="1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Manage user roles (Admin, Venue Owner, Organizer).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900" b="1" dirty="0"/>
                <a:t>Venue Monitoring</a:t>
              </a:r>
            </a:p>
            <a:p>
              <a:pPr marL="914400" lvl="1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View all submitted venues.</a:t>
              </a:r>
            </a:p>
            <a:p>
              <a:pPr marL="914400" lvl="1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Approve or reject venue listings.</a:t>
              </a:r>
            </a:p>
            <a:p>
              <a:pPr marL="914400" lvl="1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Remove venues that violate platform rules.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900" b="1" dirty="0"/>
                <a:t>Event Monitoring</a:t>
              </a:r>
            </a:p>
            <a:p>
              <a:pPr marL="914400" lvl="1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View all event requests.</a:t>
              </a:r>
            </a:p>
            <a:p>
              <a:pPr marL="914400" lvl="1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Approve or reject event listings.</a:t>
              </a:r>
            </a:p>
            <a:p>
              <a:pPr marL="914400" lvl="1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Remove any event that violates policies.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900" b="1" dirty="0"/>
                <a:t>Platform Oversight</a:t>
              </a:r>
            </a:p>
            <a:p>
              <a:pPr marL="914400" lvl="1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Access system activity logs.</a:t>
              </a:r>
            </a:p>
            <a:p>
              <a:pPr marL="914400" lvl="1" indent="-457200">
                <a:buFont typeface="Courier New" panose="02070309020205020404" pitchFamily="49" charset="0"/>
                <a:buChar char="o"/>
              </a:pPr>
              <a:r>
                <a:rPr lang="en-US" sz="2900" dirty="0"/>
                <a:t>Monitor overall performance and usage statistics.</a:t>
              </a:r>
            </a:p>
            <a:p>
              <a:pPr algn="l">
                <a:lnSpc>
                  <a:spcPts val="3599"/>
                </a:lnSpc>
              </a:pPr>
              <a:endParaRPr lang="en-US" sz="3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marL="423120" lvl="1" indent="-211560" algn="l">
                <a:lnSpc>
                  <a:spcPts val="4208"/>
                </a:lnSpc>
              </a:pPr>
              <a:endParaRPr lang="en-US" sz="3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002E8D2C-4D41-BBDD-0F39-1397CDC42E7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6000" y="8960505"/>
            <a:ext cx="1254685" cy="125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58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15900" y="9505950"/>
            <a:ext cx="4114800" cy="576263"/>
            <a:chOff x="0" y="0"/>
            <a:chExt cx="5486400" cy="7683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81174" y="1260806"/>
            <a:ext cx="15349526" cy="7997495"/>
            <a:chOff x="0" y="-1092200"/>
            <a:chExt cx="20466035" cy="1066332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466034" cy="9571126"/>
            </a:xfrm>
            <a:custGeom>
              <a:avLst/>
              <a:gdLst/>
              <a:ahLst/>
              <a:cxnLst/>
              <a:rect l="l" t="t" r="r" b="b"/>
              <a:pathLst>
                <a:path w="20466034" h="9571126">
                  <a:moveTo>
                    <a:pt x="0" y="0"/>
                  </a:moveTo>
                  <a:lnTo>
                    <a:pt x="20466034" y="0"/>
                  </a:lnTo>
                  <a:lnTo>
                    <a:pt x="20466034" y="9571126"/>
                  </a:lnTo>
                  <a:lnTo>
                    <a:pt x="0" y="957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1092200"/>
              <a:ext cx="20466035" cy="96473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04"/>
                </a:lnSpc>
              </a:pPr>
              <a:endParaRPr lang="en-US" sz="3200" dirty="0"/>
            </a:p>
            <a:p>
              <a:pPr marL="757161" lvl="1" indent="-378581" algn="l">
                <a:lnSpc>
                  <a:spcPts val="4204"/>
                </a:lnSpc>
                <a:buAutoNum type="arabicPeriod"/>
              </a:pPr>
              <a:r>
                <a:rPr lang="en-US" sz="3200" dirty="0">
                  <a:solidFill>
                    <a:srgbClr val="FFBD5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Pending</a:t>
              </a:r>
            </a:p>
            <a:p>
              <a:pPr marL="1514323" lvl="2" indent="-504774">
                <a:lnSpc>
                  <a:spcPts val="4204"/>
                </a:lnSpc>
                <a:buFont typeface="Arial"/>
                <a:buChar char="⚬"/>
              </a:pPr>
              <a:r>
                <a:rPr lang="en-US" sz="3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3200" dirty="0"/>
                <a:t>The event has been created but is waiting for review or initial approval by an administrator or venue manager.</a:t>
              </a:r>
              <a:endParaRPr lang="en-US" sz="3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757161" lvl="1" indent="-378581" algn="l">
                <a:lnSpc>
                  <a:spcPts val="4204"/>
                </a:lnSpc>
                <a:buAutoNum type="arabicPeriod"/>
              </a:pPr>
              <a:r>
                <a:rPr lang="en-US" sz="3200" dirty="0">
                  <a:solidFill>
                    <a:srgbClr val="0FAB7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Approved</a:t>
              </a:r>
            </a:p>
            <a:p>
              <a:pPr marL="1514323" lvl="2" indent="-504774">
                <a:lnSpc>
                  <a:spcPts val="4204"/>
                </a:lnSpc>
                <a:buFont typeface="Arial"/>
                <a:buChar char="⚬"/>
              </a:pPr>
              <a:r>
                <a:rPr lang="en-US" sz="3200" dirty="0"/>
                <a:t>The event details and requested venue have been confirmed and the event is set to proceed.</a:t>
              </a:r>
              <a:endParaRPr lang="en-US" sz="3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757161" lvl="1" indent="-378581">
                <a:lnSpc>
                  <a:spcPts val="4204"/>
                </a:lnSpc>
                <a:buAutoNum type="arabicPeriod"/>
              </a:pPr>
              <a:r>
                <a:rPr lang="en-US" sz="3200" dirty="0">
                  <a:solidFill>
                    <a:srgbClr val="FF0000"/>
                  </a:solidFill>
                </a:rPr>
                <a:t>Rejected</a:t>
              </a:r>
              <a:endParaRPr lang="en-US" sz="3200" dirty="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1514323" lvl="2" indent="-504774">
                <a:lnSpc>
                  <a:spcPts val="4204"/>
                </a:lnSpc>
                <a:buFont typeface="Arial"/>
                <a:buChar char="⚬"/>
              </a:pPr>
              <a:r>
                <a:rPr lang="en-US" sz="3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event details were found to be </a:t>
              </a:r>
              <a:r>
                <a:rPr lang="en-US" sz="3200" dirty="0"/>
                <a:t>invalid or unacceptable , and the event will not proceed.</a:t>
              </a:r>
              <a:endParaRPr lang="en-US" sz="3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757161" lvl="1" indent="-378581">
                <a:lnSpc>
                  <a:spcPts val="4204"/>
                </a:lnSpc>
                <a:buAutoNum type="arabicPeriod"/>
              </a:pPr>
              <a:r>
                <a:rPr lang="en-US" sz="3200" dirty="0">
                  <a:solidFill>
                    <a:schemeClr val="accent3">
                      <a:lumMod val="75000"/>
                    </a:schemeClr>
                  </a:solidFill>
                </a:rPr>
                <a:t>Finished</a:t>
              </a:r>
              <a:endParaRPr lang="en-US" sz="3200" dirty="0">
                <a:solidFill>
                  <a:schemeClr val="accent3">
                    <a:lumMod val="75000"/>
                  </a:schemeClr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1514323" lvl="2" indent="-504774">
                <a:lnSpc>
                  <a:spcPts val="4204"/>
                </a:lnSpc>
                <a:buFont typeface="Arial"/>
                <a:buChar char="⚬"/>
              </a:pPr>
              <a:r>
                <a:rPr lang="en-US" sz="3200" dirty="0"/>
                <a:t>The date and time for the event have passed, meaning the event has concluded.</a:t>
              </a:r>
              <a:endParaRPr lang="en-US" sz="3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757161" lvl="1" indent="-378581">
                <a:lnSpc>
                  <a:spcPts val="4204"/>
                </a:lnSpc>
                <a:buAutoNum type="arabicPeriod"/>
              </a:pPr>
              <a:r>
                <a:rPr lang="en-US" sz="3200" dirty="0">
                  <a:solidFill>
                    <a:srgbClr val="0070C0"/>
                  </a:solidFill>
                </a:rPr>
                <a:t>Paid</a:t>
              </a:r>
              <a:endParaRPr lang="en-US" sz="3200" dirty="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1514323" lvl="2" indent="-504774">
                <a:lnSpc>
                  <a:spcPts val="4204"/>
                </a:lnSpc>
                <a:buFont typeface="Arial"/>
                <a:buChar char="⚬"/>
              </a:pPr>
              <a:r>
                <a:rPr lang="en-US" sz="3200" dirty="0"/>
                <a:t>All necessary fees and payments related to the event (e.g., venue booking, payment for tickets) have been successfully processed and confirmed.</a:t>
              </a:r>
              <a:endParaRPr lang="en-US" sz="3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79B077E-B62B-3F77-72A9-3EBB1D8221A0}"/>
              </a:ext>
            </a:extLst>
          </p:cNvPr>
          <p:cNvSpPr txBox="1"/>
          <p:nvPr/>
        </p:nvSpPr>
        <p:spPr>
          <a:xfrm>
            <a:off x="6553200" y="867370"/>
            <a:ext cx="403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Event Status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FC039FC-7364-1FD8-44AD-71475538FC2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6000" y="8960505"/>
            <a:ext cx="1254685" cy="12546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067268" y="495320"/>
            <a:ext cx="1926864" cy="956639"/>
            <a:chOff x="0" y="0"/>
            <a:chExt cx="2569152" cy="12755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69210" cy="1275461"/>
            </a:xfrm>
            <a:custGeom>
              <a:avLst/>
              <a:gdLst/>
              <a:ahLst/>
              <a:cxnLst/>
              <a:rect l="l" t="t" r="r" b="b"/>
              <a:pathLst>
                <a:path w="2569210" h="1275461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08378"/>
            <a:ext cx="4114800" cy="573881"/>
            <a:chOff x="0" y="0"/>
            <a:chExt cx="5486400" cy="76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65175"/>
            </a:xfrm>
            <a:custGeom>
              <a:avLst/>
              <a:gdLst/>
              <a:ahLst/>
              <a:cxnLst/>
              <a:rect l="l" t="t" r="r" b="b"/>
              <a:pathLst>
                <a:path w="5486400" h="765175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9976" y="0"/>
            <a:ext cx="2234648" cy="2079956"/>
            <a:chOff x="0" y="0"/>
            <a:chExt cx="2979531" cy="2773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79547" cy="2773299"/>
            </a:xfrm>
            <a:custGeom>
              <a:avLst/>
              <a:gdLst/>
              <a:ahLst/>
              <a:cxnLst/>
              <a:rect l="l" t="t" r="r" b="b"/>
              <a:pathLst>
                <a:path w="2979547" h="2773299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b="-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461284" y="9516022"/>
            <a:ext cx="699135" cy="647891"/>
            <a:chOff x="0" y="0"/>
            <a:chExt cx="932180" cy="8638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180" cy="863854"/>
            </a:xfrm>
            <a:custGeom>
              <a:avLst/>
              <a:gdLst/>
              <a:ahLst/>
              <a:cxnLst/>
              <a:rect l="l" t="t" r="r" b="b"/>
              <a:pathLst>
                <a:path w="932180" h="863854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09/5/2025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15900" y="9505950"/>
            <a:ext cx="4114800" cy="576263"/>
            <a:chOff x="0" y="0"/>
            <a:chExt cx="5486400" cy="7683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569910" y="605032"/>
            <a:ext cx="11148181" cy="1599599"/>
            <a:chOff x="0" y="0"/>
            <a:chExt cx="14864241" cy="213279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864242" cy="2132799"/>
            </a:xfrm>
            <a:custGeom>
              <a:avLst/>
              <a:gdLst/>
              <a:ahLst/>
              <a:cxnLst/>
              <a:rect l="l" t="t" r="r" b="b"/>
              <a:pathLst>
                <a:path w="14864242" h="2132799">
                  <a:moveTo>
                    <a:pt x="0" y="0"/>
                  </a:moveTo>
                  <a:lnTo>
                    <a:pt x="14864242" y="0"/>
                  </a:lnTo>
                  <a:lnTo>
                    <a:pt x="14864242" y="2132799"/>
                  </a:lnTo>
                  <a:lnTo>
                    <a:pt x="0" y="21327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4864241" cy="221852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6448"/>
                </a:lnSpc>
              </a:pPr>
              <a:r>
                <a:rPr lang="en-US" sz="4605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Timeline for Deliverables:</a:t>
              </a:r>
            </a:p>
            <a:p>
              <a:pPr algn="ctr">
                <a:lnSpc>
                  <a:spcPts val="6448"/>
                </a:lnSpc>
              </a:pPr>
              <a:endParaRPr lang="en-US" sz="460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24" name="Freeform 24"/>
          <p:cNvSpPr/>
          <p:nvPr/>
        </p:nvSpPr>
        <p:spPr>
          <a:xfrm>
            <a:off x="1681174" y="2013281"/>
            <a:ext cx="15349525" cy="7640544"/>
          </a:xfrm>
          <a:custGeom>
            <a:avLst/>
            <a:gdLst/>
            <a:ahLst/>
            <a:cxnLst/>
            <a:rect l="l" t="t" r="r" b="b"/>
            <a:pathLst>
              <a:path w="20466034" h="10187391">
                <a:moveTo>
                  <a:pt x="0" y="0"/>
                </a:moveTo>
                <a:lnTo>
                  <a:pt x="20466034" y="0"/>
                </a:lnTo>
                <a:lnTo>
                  <a:pt x="20466034" y="10187391"/>
                </a:lnTo>
                <a:lnTo>
                  <a:pt x="0" y="1018739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2" name="Rectangle 14">
            <a:extLst>
              <a:ext uri="{FF2B5EF4-FFF2-40B4-BE49-F238E27FC236}">
                <a16:creationId xmlns:a16="http://schemas.microsoft.com/office/drawing/2014/main" id="{908FFF33-38A5-F61C-91B6-CAA5A8769D0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688436" y="2453433"/>
            <a:ext cx="133350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Milestone 1: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 ERD &amp; Mapping and Initial Setup</a:t>
            </a:r>
            <a:endParaRPr kumimoji="0" lang="ar-EG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Milestone 2: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Authentication, Authorization, and User Roles Setup</a:t>
            </a:r>
            <a:endParaRPr kumimoji="0" lang="ar-EG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Milestone 3: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Core Functionality (Event Creation, Venue Booking, Status Management)</a:t>
            </a:r>
            <a:endParaRPr kumimoji="0" lang="ar-EG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Milestone 4: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Payment Integration and Atomic Transactions Implementation</a:t>
            </a:r>
            <a:endParaRPr kumimoji="0" lang="ar-EG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Milestone 5: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Admin Panel,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DataTables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Integration, Final Testing &amp; Deployment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362C6F4-04D6-6F72-63D3-723F2AB8F6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6000" y="8960505"/>
            <a:ext cx="1254685" cy="1254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1684</Words>
  <Application>Microsoft Office PowerPoint</Application>
  <PresentationFormat>Custom</PresentationFormat>
  <Paragraphs>371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Canva Sans Bold</vt:lpstr>
      <vt:lpstr>Courier New</vt:lpstr>
      <vt:lpstr>Wingdings</vt:lpstr>
      <vt:lpstr>Calibri (MS)</vt:lpstr>
      <vt:lpstr>Calibri</vt:lpstr>
      <vt:lpstr>Arial</vt:lpstr>
      <vt:lpstr>Barlow Bold</vt:lpstr>
      <vt:lpstr>Arial Bold</vt:lpstr>
      <vt:lpstr>DM Sans Bold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DEPI Final Project. PPT Template.pptx.pptx</dc:title>
  <cp:lastModifiedBy>زياد جمال حسن</cp:lastModifiedBy>
  <cp:revision>6</cp:revision>
  <dcterms:created xsi:type="dcterms:W3CDTF">2006-08-16T00:00:00Z</dcterms:created>
  <dcterms:modified xsi:type="dcterms:W3CDTF">2025-12-07T21:04:09Z</dcterms:modified>
  <dc:identifier>DAGnqxcj2f4</dc:identifier>
</cp:coreProperties>
</file>